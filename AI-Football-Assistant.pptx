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73" r:id="rId2"/>
    <p:sldId id="278" r:id="rId3"/>
    <p:sldId id="259" r:id="rId4"/>
    <p:sldId id="274" r:id="rId5"/>
    <p:sldId id="275" r:id="rId6"/>
    <p:sldId id="277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0" r:id="rId15"/>
    <p:sldId id="276" r:id="rId16"/>
  </p:sldIdLst>
  <p:sldSz cx="14630400" cy="8229600"/>
  <p:notesSz cx="8229600" cy="146304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DM Sans Medium" pitchFamily="2" charset="0"/>
      <p:regular r:id="rId22"/>
      <p:italic r:id="rId23"/>
    </p:embeddedFont>
    <p:embeddedFont>
      <p:font typeface="Inter" panose="020B0604020202020204" charset="0"/>
      <p:regular r:id="rId24"/>
    </p:embeddedFont>
    <p:embeddedFont>
      <p:font typeface="MuseoModerno Medium" panose="020B0604020202020204" charset="0"/>
      <p:regular r:id="rId25"/>
    </p:embeddedFont>
    <p:embeddedFont>
      <p:font typeface="Raleway" pitchFamily="2" charset="0"/>
      <p:regular r:id="rId26"/>
    </p:embeddedFont>
    <p:embeddedFont>
      <p:font typeface="Roboto" panose="02000000000000000000" pitchFamily="2" charset="0"/>
      <p:regular r:id="rId27"/>
      <p:bold r:id="rId28"/>
    </p:embeddedFont>
    <p:embeddedFont>
      <p:font typeface="Source Sans 3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60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3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81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6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976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44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89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802.04987" TargetMode="External"/><Relationship Id="rId13" Type="http://schemas.openxmlformats.org/officeDocument/2006/relationships/hyperlink" Target="https://www.statsperform.com/opta/" TargetMode="External"/><Relationship Id="rId3" Type="http://schemas.openxmlformats.org/officeDocument/2006/relationships/hyperlink" Target="https://ijsdr.org/papers/IJSDR2304302.pdf" TargetMode="External"/><Relationship Id="rId7" Type="http://schemas.openxmlformats.org/officeDocument/2006/relationships/hyperlink" Target="https://arxiv.org/abs/2207.11361" TargetMode="External"/><Relationship Id="rId12" Type="http://schemas.openxmlformats.org/officeDocument/2006/relationships/hyperlink" Target="https://link.springer.com/article/10.1007/s42979-021-00713-1" TargetMode="External"/><Relationship Id="rId17" Type="http://schemas.openxmlformats.org/officeDocument/2006/relationships/hyperlink" Target="https://barcainnovationhub.fcbarcelona.com/blog/artificial-intelligence-applied-to-sports/" TargetMode="External"/><Relationship Id="rId2" Type="http://schemas.openxmlformats.org/officeDocument/2006/relationships/notesSlide" Target="../notesSlides/notesSlide14.xml"/><Relationship Id="rId16" Type="http://schemas.openxmlformats.org/officeDocument/2006/relationships/hyperlink" Target="https://www.mancity.com/cityfanlabs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arxiv.org/abs/2206.13246" TargetMode="External"/><Relationship Id="rId11" Type="http://schemas.openxmlformats.org/officeDocument/2006/relationships/hyperlink" Target="https://arxiv.org/abs/2502.07528" TargetMode="External"/><Relationship Id="rId5" Type="http://schemas.openxmlformats.org/officeDocument/2006/relationships/hyperlink" Target="https://www.ncbi.nlm.nih.gov/pmc/articles/PMC9806754/" TargetMode="External"/><Relationship Id="rId15" Type="http://schemas.openxmlformats.org/officeDocument/2006/relationships/hyperlink" Target="https://www.scisports.com/" TargetMode="External"/><Relationship Id="rId10" Type="http://schemas.openxmlformats.org/officeDocument/2006/relationships/hyperlink" Target="https://ieeexplore.ieee.org/document/9151318" TargetMode="External"/><Relationship Id="rId4" Type="http://schemas.openxmlformats.org/officeDocument/2006/relationships/hyperlink" Target="https://papers.ssrn.com/sol3/papers.cfm?abstract_id=4485449" TargetMode="External"/><Relationship Id="rId9" Type="http://schemas.openxmlformats.org/officeDocument/2006/relationships/hyperlink" Target="https://www.mdpi.com/2504-4990/7/3/85" TargetMode="External"/><Relationship Id="rId14" Type="http://schemas.openxmlformats.org/officeDocument/2006/relationships/hyperlink" Target="https://www.transfermark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5468" y="2977834"/>
            <a:ext cx="10736132" cy="3315390"/>
          </a:xfrm>
        </p:spPr>
        <p:txBody>
          <a:bodyPr/>
          <a:lstStyle/>
          <a:p>
            <a:pPr algn="l">
              <a:lnSpc>
                <a:spcPts val="5550"/>
              </a:lnSpc>
            </a:pPr>
            <a:r>
              <a:rPr lang="en-US" sz="6000" b="1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Football Manager AI Assistant</a:t>
            </a:r>
            <a:br>
              <a:rPr lang="en-US" sz="60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</a:br>
            <a:r>
              <a:rPr lang="en-US" sz="32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Data-Driven Player Scouting &amp; Tactical    Recommendation System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2894" y="5869172"/>
            <a:ext cx="3020922" cy="1467293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Tanmay Singh </a:t>
            </a:r>
          </a:p>
          <a:p>
            <a:r>
              <a:rPr lang="en-IN" dirty="0"/>
              <a:t>2427030035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9875520" y="5860662"/>
            <a:ext cx="3461988" cy="1467293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80" dirty="0"/>
              <a:t>Supervised By:</a:t>
            </a:r>
            <a:br>
              <a:rPr lang="en-IN" sz="2880" dirty="0"/>
            </a:br>
            <a:r>
              <a:rPr lang="en-IN" sz="2880" dirty="0"/>
              <a:t>Dr. Akshay Jadhav</a:t>
            </a:r>
          </a:p>
          <a:p>
            <a:endParaRPr lang="en-IN" sz="2880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08" y="43247"/>
            <a:ext cx="5008847" cy="146729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833050" y="1323191"/>
            <a:ext cx="10972800" cy="1045747"/>
          </a:xfrm>
          <a:prstGeom prst="rect">
            <a:avLst/>
          </a:prstGeom>
        </p:spPr>
        <p:txBody>
          <a:bodyPr vert="horz" lIns="109728" tIns="54864" rIns="109728" bIns="54864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3360" b="1" dirty="0">
                <a:latin typeface="MuseoModerno Medium" panose="020B0604020202020204" charset="0"/>
              </a:rPr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3360" b="1" dirty="0">
                <a:latin typeface="MuseoModerno Medium" panose="020B0604020202020204" charset="0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0640" y="1937028"/>
            <a:ext cx="802520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Football Manager AI Assistant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034580" y="3694748"/>
            <a:ext cx="8802032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Data-Driven Player Scouting &amp; Tactical Recommendation System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885492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5798225"/>
            <a:ext cx="35015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045DAC0-C313-4968-9A3D-E1AD3E397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2915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155" y="1116092"/>
            <a:ext cx="5939195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Introduction: Project Scope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6155" y="2110145"/>
            <a:ext cx="285511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Built: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66155" y="2626638"/>
            <a:ext cx="3673673" cy="207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Python-based desktop application with two integrated phases.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1: Search and rank 3,000+ players using intelligent metrics.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2: Analyze squad composition, detect weaknesses, recommend formations.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811792" y="2110145"/>
            <a:ext cx="285511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Components: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11792" y="2626638"/>
            <a:ext cx="3673673" cy="2407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3,000 player dataset 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Random Forest + Neural Network ensemble.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Tkinter-based user interface for Phase-1 and Phase-2.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7 engineered metrics capturing tactical attributes.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1667" y="5509498"/>
            <a:ext cx="2855119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Scope Limitations: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1667" y="6105882"/>
            <a:ext cx="7526179" cy="951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Keyword-based search (not full NLP/BERT models).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formation recommendations (not game simulation).</a:t>
            </a:r>
            <a:endParaRPr lang="en-US" sz="145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 analysis (no real-time market data integration).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6155" y="5269944"/>
            <a:ext cx="22860" cy="1843564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674" y="740926"/>
            <a:ext cx="7614880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Papers Overview: ML in Football Analytics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42674" y="1389102"/>
            <a:ext cx="13745051" cy="6099453"/>
          </a:xfrm>
          <a:prstGeom prst="roundRect">
            <a:avLst>
              <a:gd name="adj" fmla="val 31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0294" y="1396722"/>
            <a:ext cx="13733859" cy="369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7215" y="1480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S.No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42937" y="1480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04849" y="1480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66761" y="1480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Used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28673" y="1480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390584" y="1480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52496" y="1480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0294" y="1765935"/>
            <a:ext cx="13733859" cy="7737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7215" y="18493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42937" y="1849398"/>
            <a:ext cx="1701403" cy="606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Football Player Performance Using Machine Learning (2023)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04849" y="1849398"/>
            <a:ext cx="1701403" cy="606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 predict player performance using match stats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66761" y="1849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RF,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28673" y="18493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Goals, assists, passes, tackles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390584" y="1849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 performs best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52496" y="18493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0294" y="2539722"/>
            <a:ext cx="13733859" cy="571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7215" y="2623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937" y="26231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Value Prediction of Football Players (2023)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04849" y="26231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Estimates player value with regression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66761" y="2623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28673" y="2623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goals, assists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390584" y="2623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≈ 0.90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352496" y="2623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 off-field factors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0294" y="3111222"/>
            <a:ext cx="13733859" cy="571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77215" y="31946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42937" y="31946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Applications in Soccer (2022)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04849" y="31946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of ML uses in soccer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66761" y="31946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SVM, RF, ANN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28673" y="31946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match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390584" y="31946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enhances scouting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352496" y="31946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datasets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0294" y="3682722"/>
            <a:ext cx="13733859" cy="571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77215" y="3766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42937" y="37661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Bayesian Player Value Model (2022)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04849" y="37661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value using Bayesian approach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66761" y="3766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Bayesian Ensemble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28673" y="3766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Goals, age, matches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390584" y="3766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error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2352496" y="3766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clean data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0294" y="4254222"/>
            <a:ext cx="13733859" cy="571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7215" y="43376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42937" y="43376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Modeling for Player Value (2022)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04849" y="4337685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value ranking using ML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66761" y="43376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428673" y="43376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Shots, passes, duels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390584" y="43376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accuracy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2352496" y="43376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input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0294" y="4825722"/>
            <a:ext cx="13733859" cy="369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77215" y="4909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542937" y="4909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PlayeRank (2018)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04849" y="4909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ranking system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66761" y="4909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+ scoring model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428673" y="4909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Passes, dribbles, shots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390584" y="4909185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rankings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2352496" y="4909185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tracking data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0294" y="5194935"/>
            <a:ext cx="13733859" cy="571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77215" y="52783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542937" y="52783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Football Performance Prediction (2021)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04849" y="5278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match performance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66761" y="5278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428673" y="5278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Possession, shots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390584" y="5278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accuracy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2352496" y="52783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training time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0294" y="5766435"/>
            <a:ext cx="13733859" cy="571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77215" y="58498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542937" y="58498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NN Player Performance Prediction (2020)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504849" y="58498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ANN to predict performance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466761" y="5849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428673" y="5849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xG, passing, tackles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0390584" y="5849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performance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2352496" y="58498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Overfitting possible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0294" y="6337935"/>
            <a:ext cx="13733859" cy="571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77215" y="64213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542937" y="64213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 Player Development (2025)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504849" y="64213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future player growth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466761" y="6421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+ ML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428673" y="6421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Trends, age, form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0390584" y="64213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future prediction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2352496" y="64213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data unstable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50294" y="6909435"/>
            <a:ext cx="13733859" cy="571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77215" y="69928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2542937" y="6992898"/>
            <a:ext cx="1701403" cy="404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Soccer Match Prediction (2021)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504849" y="6992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match outcomes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466761" y="6992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SVM, RF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428673" y="6992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Goals, cards, home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390584" y="6992898"/>
            <a:ext cx="170140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75–80% accuracy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2352496" y="6992898"/>
            <a:ext cx="1705213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Unpredictable events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822" y="1031319"/>
            <a:ext cx="12548235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Real-World Applications in Football AI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72822" y="2016562"/>
            <a:ext cx="13284756" cy="5181600"/>
          </a:xfrm>
          <a:prstGeom prst="roundRect">
            <a:avLst>
              <a:gd name="adj" fmla="val 55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0442" y="2024182"/>
            <a:ext cx="13269516" cy="8610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2966" y="2147054"/>
            <a:ext cx="275273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S.No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40193" y="214705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30560" y="2147054"/>
            <a:ext cx="2261949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4463" y="214705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Used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4831" y="214705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65199" y="214705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55567" y="2147054"/>
            <a:ext cx="160222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0442" y="2885242"/>
            <a:ext cx="13269516" cy="8610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2966" y="3008114"/>
            <a:ext cx="275273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40193" y="300811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Opta Sports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0560" y="3008114"/>
            <a:ext cx="2261949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xG, xA, tracking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4463" y="300811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+ Stats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74831" y="300811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Shots, passes, movement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65199" y="300811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155567" y="3008114"/>
            <a:ext cx="160222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access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0442" y="3746302"/>
            <a:ext cx="13269516" cy="8610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72966" y="3869174"/>
            <a:ext cx="275273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40193" y="386917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Transfermarkt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560" y="3869174"/>
            <a:ext cx="2261949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Estimates player market value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84463" y="386917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+ ML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74831" y="386917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performance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65199" y="386917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value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155567" y="3869174"/>
            <a:ext cx="160222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transparent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0442" y="4607362"/>
            <a:ext cx="13269516" cy="8610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2966" y="4730234"/>
            <a:ext cx="275273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40193" y="473023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SciSports BallJames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30560" y="4730234"/>
            <a:ext cx="2261949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video tracking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84463" y="473023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74831" y="473023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Speed, movement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165199" y="473023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Tactical insights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155567" y="4730234"/>
            <a:ext cx="160222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HD cameras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80442" y="5468422"/>
            <a:ext cx="13269516" cy="8610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2966" y="5591294"/>
            <a:ext cx="275273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40193" y="559129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 City Fan Labs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530560" y="5591294"/>
            <a:ext cx="2261949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fan analytics &amp; insights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184463" y="559129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74831" y="559129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 data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165199" y="559129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support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155567" y="5591294"/>
            <a:ext cx="160222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to fan data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0442" y="6329482"/>
            <a:ext cx="13269516" cy="8610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2966" y="6452354"/>
            <a:ext cx="275273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540193" y="645235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Barça Innovation Hub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530560" y="6452354"/>
            <a:ext cx="2261949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tactics &amp; performance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184463" y="6452354"/>
            <a:ext cx="159841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+ CV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174831" y="645235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Heatmaps, passes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165199" y="6452354"/>
            <a:ext cx="1598414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support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2155567" y="6452354"/>
            <a:ext cx="1602224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public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089" y="624126"/>
            <a:ext cx="11383208" cy="634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24E73"/>
                </a:solidFill>
                <a:latin typeface="MuseoModerno Medium" pitchFamily="34" charset="0"/>
              </a:rPr>
              <a:t>Problem Statement </a:t>
            </a:r>
            <a:endParaRPr lang="en-US" sz="3950" b="1" dirty="0"/>
          </a:p>
        </p:txBody>
      </p:sp>
      <p:sp>
        <p:nvSpPr>
          <p:cNvPr id="3" name="Text 1"/>
          <p:cNvSpPr/>
          <p:nvPr/>
        </p:nvSpPr>
        <p:spPr>
          <a:xfrm>
            <a:off x="710089" y="1511737"/>
            <a:ext cx="13702468" cy="1447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</a:rPr>
              <a:t>Small football clubs lack an integrated, data-driven system that combines player scouting and tactical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</a:rPr>
              <a:t>Analysis into a single decision-support platform</a:t>
            </a:r>
          </a:p>
          <a:p>
            <a:pPr marL="0" indent="0" algn="l">
              <a:lnSpc>
                <a:spcPts val="2950"/>
              </a:lnSpc>
              <a:buNone/>
            </a:pPr>
            <a:endParaRPr lang="en-US" sz="2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70" y="3023054"/>
            <a:ext cx="304324" cy="3804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9457" y="3105505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B4150"/>
                </a:solidFill>
                <a:latin typeface="MuseoModerno Medium" pitchFamily="34" charset="0"/>
              </a:rPr>
              <a:t>Current Scenario</a:t>
            </a:r>
            <a:endParaRPr lang="en-US" sz="1950" b="1" dirty="0"/>
          </a:p>
        </p:txBody>
      </p:sp>
      <p:sp>
        <p:nvSpPr>
          <p:cNvPr id="9" name="Text 5"/>
          <p:cNvSpPr/>
          <p:nvPr/>
        </p:nvSpPr>
        <p:spPr>
          <a:xfrm>
            <a:off x="1369457" y="3546387"/>
            <a:ext cx="5698212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</a:rPr>
              <a:t>Manual scouting and data review are time consuming.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</a:rPr>
              <a:t>Tactical analysis depends on human judgement and intuition 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54" y="4685751"/>
            <a:ext cx="304324" cy="3804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66221" y="4717480"/>
            <a:ext cx="3838239" cy="39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B4150"/>
                </a:solidFill>
                <a:latin typeface="MuseoModerno Medium" pitchFamily="34" charset="0"/>
              </a:rPr>
              <a:t>Need for solution</a:t>
            </a:r>
            <a:endParaRPr lang="en-US" sz="1950" b="1" dirty="0"/>
          </a:p>
        </p:txBody>
      </p:sp>
      <p:sp>
        <p:nvSpPr>
          <p:cNvPr id="12" name="Text 7"/>
          <p:cNvSpPr/>
          <p:nvPr/>
        </p:nvSpPr>
        <p:spPr>
          <a:xfrm>
            <a:off x="1366221" y="5076245"/>
            <a:ext cx="5698212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real-time , data-driven system for decision support</a:t>
            </a:r>
            <a:b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Integration of AI for predictive and analytical insights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43274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28015" y="1125974"/>
            <a:ext cx="3868817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28015" y="1767840"/>
            <a:ext cx="619006" cy="928449"/>
          </a:xfrm>
          <a:prstGeom prst="roundRect">
            <a:avLst>
              <a:gd name="adj" fmla="val 3600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1492" y="2115979"/>
            <a:ext cx="232053" cy="2320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52511" y="1922502"/>
            <a:ext cx="193440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Search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752511" y="2227659"/>
            <a:ext cx="7336274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keyword-based system for tactical player matching.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28015" y="2801779"/>
            <a:ext cx="619006" cy="928449"/>
          </a:xfrm>
          <a:prstGeom prst="roundRect">
            <a:avLst>
              <a:gd name="adj" fmla="val 3600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1492" y="3149918"/>
            <a:ext cx="232053" cy="2320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52511" y="2956441"/>
            <a:ext cx="236112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 Domain Features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752511" y="3261598"/>
            <a:ext cx="7336274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7 meaningful metrics (Finishing, Creativity, Defense, etc.).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028015" y="3835718"/>
            <a:ext cx="619006" cy="928449"/>
          </a:xfrm>
          <a:prstGeom prst="roundRect">
            <a:avLst>
              <a:gd name="adj" fmla="val 3600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1492" y="4183856"/>
            <a:ext cx="232053" cy="2320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52511" y="3990380"/>
            <a:ext cx="2107287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Predictive Models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752511" y="4295537"/>
            <a:ext cx="7336274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Random Forest + Neural Network ensemble for evaluation.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028015" y="4869656"/>
            <a:ext cx="619006" cy="928449"/>
          </a:xfrm>
          <a:prstGeom prst="roundRect">
            <a:avLst>
              <a:gd name="adj" fmla="val 3600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1492" y="5217795"/>
            <a:ext cx="232053" cy="23205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52511" y="5024318"/>
            <a:ext cx="199120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Squad Analysis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752511" y="5329476"/>
            <a:ext cx="7336274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 team strength across 4 dimensions (Attack, Creativity, Defense, Discipline).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3EEE07C-D610-7EE1-CE18-30BECA43F6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630" y="769852"/>
            <a:ext cx="6032645" cy="66828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3847" y="701635"/>
            <a:ext cx="3841313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Data Pipeline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12" y="1206818"/>
            <a:ext cx="7424857" cy="40571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1844" y="3107844"/>
            <a:ext cx="1720371" cy="234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926075" y="3081447"/>
            <a:ext cx="1720371" cy="234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</a:rPr>
              <a:t>Train-Test Split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803893" y="3089900"/>
            <a:ext cx="1720372" cy="234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 &amp; Split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9857" y="5037773"/>
            <a:ext cx="180915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2233" y="5537716"/>
            <a:ext cx="6855805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3000+ real football players with 165 attributes.</a:t>
            </a: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Structure and refine dataset for machine learning training.</a:t>
            </a: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Clean, normalized dataset for ML training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9857" y="6469618"/>
            <a:ext cx="44631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Preprocessing</a:t>
            </a: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2234" y="6847284"/>
            <a:ext cx="6855805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Fill missing values with 0.</a:t>
            </a: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 position strings into categories (GK, DF, MF, FW).</a:t>
            </a: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 numeric columns to 0-100 range using MinMax scaling.</a:t>
            </a: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outliers (age bounds: 16-38 years).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69743" y="6469618"/>
            <a:ext cx="180915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Train-Test Split: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469743" y="6820724"/>
            <a:ext cx="4014192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training data for model fitting.</a:t>
            </a: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 validation data for performance evaluation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0622" y="1272183"/>
            <a:ext cx="6016466" cy="470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Feature Engineering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20622" y="1942505"/>
            <a:ext cx="10389156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meticulously engineered metrics, scaled from 0-100, provide a comprehensive evaluation of player capabilities beyond raw statistics.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120622" y="2255282"/>
            <a:ext cx="3396377" cy="1703665"/>
          </a:xfrm>
          <a:prstGeom prst="roundRect">
            <a:avLst>
              <a:gd name="adj" fmla="val 4294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105382" y="2255282"/>
            <a:ext cx="60960" cy="1703665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332077" y="2421017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Finishing Quality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332077" y="2716173"/>
            <a:ext cx="3019187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(Goal Efficiency vs xG × 50%) + (Shot Accuracy × 50%)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2077" y="3192066"/>
            <a:ext cx="3019187" cy="601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Measures clinical finishing ability; high scores indicate strikers who convert chances effectively.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16893" y="2255282"/>
            <a:ext cx="3396496" cy="1703665"/>
          </a:xfrm>
          <a:prstGeom prst="roundRect">
            <a:avLst>
              <a:gd name="adj" fmla="val 4294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01653" y="2255282"/>
            <a:ext cx="60960" cy="1703665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28348" y="2421017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Creativity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28348" y="2716173"/>
            <a:ext cx="3019306" cy="40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(Assists × 0.6) + (Expected Assists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× 0.4)</a:t>
            </a:r>
          </a:p>
        </p:txBody>
      </p:sp>
      <p:sp>
        <p:nvSpPr>
          <p:cNvPr id="13" name="Text 11"/>
          <p:cNvSpPr/>
          <p:nvPr/>
        </p:nvSpPr>
        <p:spPr>
          <a:xfrm>
            <a:off x="5828348" y="3192065"/>
            <a:ext cx="3019306" cy="601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and scaled to 0-100, identifying key playmaking midfielders.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13282" y="2255282"/>
            <a:ext cx="3396496" cy="1703665"/>
          </a:xfrm>
          <a:prstGeom prst="roundRect">
            <a:avLst>
              <a:gd name="adj" fmla="val 4294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098042" y="2255282"/>
            <a:ext cx="60960" cy="1703665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324737" y="2421017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Goal Threat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4737" y="2716173"/>
            <a:ext cx="3019306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Goals (xG) normalized to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0-100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4737" y="3192065"/>
            <a:ext cx="3019306" cy="601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Quantifies offensive danger and presence in attacking positions.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20622" y="4058841"/>
            <a:ext cx="3396377" cy="1503283"/>
          </a:xfrm>
          <a:prstGeom prst="roundRect">
            <a:avLst>
              <a:gd name="adj" fmla="val 48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105382" y="4058841"/>
            <a:ext cx="60960" cy="1503283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332077" y="4224576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Defensive Actions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332077" y="4519732"/>
            <a:ext cx="3019187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(Tackles × 0.5) + (Interceptions × 0.3) + (Blocks × 0.2)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32077" y="4995624"/>
            <a:ext cx="3019187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defensive contributions, weighted by tactical importance.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16893" y="4058841"/>
            <a:ext cx="3396496" cy="1503283"/>
          </a:xfrm>
          <a:prstGeom prst="roundRect">
            <a:avLst>
              <a:gd name="adj" fmla="val 48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01653" y="4058841"/>
            <a:ext cx="60960" cy="1503283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828348" y="4224576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Discipline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28348" y="4519732"/>
            <a:ext cx="3019306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100 − ((Yellow Cards × 5) + (Red Cards × 25)) / 10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28348" y="4995624"/>
            <a:ext cx="3019306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fair play metric where lower card counts result in higher discipline scores.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13282" y="4058841"/>
            <a:ext cx="3396496" cy="1503283"/>
          </a:xfrm>
          <a:prstGeom prst="roundRect">
            <a:avLst>
              <a:gd name="adj" fmla="val 486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098042" y="4058841"/>
            <a:ext cx="60960" cy="1503283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324737" y="4224576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Involvement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324737" y="4519732"/>
            <a:ext cx="3019306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Mean of (Touches, Passes , Interceptions ) normalized to 0-100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4737" y="4995624"/>
            <a:ext cx="3019306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Indicates player participation and intensity in game actions.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120622" y="5662017"/>
            <a:ext cx="3396377" cy="1503283"/>
          </a:xfrm>
          <a:prstGeom prst="roundRect">
            <a:avLst>
              <a:gd name="adj" fmla="val 564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105382" y="5662017"/>
            <a:ext cx="60960" cy="1503283"/>
          </a:xfrm>
          <a:prstGeom prst="roundRect">
            <a:avLst>
              <a:gd name="adj" fmla="val 10373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332077" y="5827752"/>
            <a:ext cx="18820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Pace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2332077" y="6122908"/>
            <a:ext cx="301918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Shots per 90 minutes normalized to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0-100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332077" y="6623823"/>
            <a:ext cx="3019187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proxy for speed and directness, reflecting offensive urgency.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6374" y="1435894"/>
            <a:ext cx="11262360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Machine Learning &amp; Deep Learning Models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66374" y="2219087"/>
            <a:ext cx="1169765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employs a robust ensemble of Random Forest and Neural Network models to generate accurate player predictions.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66374" y="2725222"/>
            <a:ext cx="309467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Random Forest Regressor: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6374" y="3169801"/>
            <a:ext cx="5642015" cy="179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200 decision trees, max_depth=15, min_samples_split=5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Learns intricate feature patterns and provides reliable baseline predictions.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Advantages: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Robust to outliers, effectively handles non-linear relationships, and offers valuable feature importance ranking.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Achieves an R² score of approximately 0.76-0.82.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29632" y="2725222"/>
            <a:ext cx="426577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Neural Network (Keras/TensorFlow):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29632" y="3169801"/>
            <a:ext cx="5642015" cy="1317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Dense layers with ReLU activations, Batch Normalization, and Dropout for regularization.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50 epochs, batch_size=32, validation_split=0.2.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Optimizer: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Adam (learning_rate=0.001).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Mean Squared Error.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6374" y="5195530"/>
            <a:ext cx="279237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Ensemble Combination: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6374" y="5703451"/>
            <a:ext cx="11697652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combine the strengths of both models: Random Forest (60% weight) for its reliability on this dataset, and Neural Network (40% weight) for capturing complex patterns.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6374" y="6319838"/>
            <a:ext cx="11697652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Score: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(RF Score × 0.6) + (NN Score × 0.4). This approach mitigates individual model blind spots, achieving an overall R² of 0.85 and capturing more variance.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5291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77950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is designed in two distinct phases, ensuring a seamless and efficient workflow from scouting to tactical analysis.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979289"/>
            <a:ext cx="7825502" cy="4410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7619" y="1361413"/>
            <a:ext cx="1449363" cy="21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Scouting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87619" y="1639915"/>
            <a:ext cx="1449363" cy="26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3000 players CSV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0934" y="1361413"/>
            <a:ext cx="1441654" cy="21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0934" y="1639915"/>
            <a:ext cx="1441654" cy="26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RF (15s) and NN (20s)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41705" y="4453838"/>
            <a:ext cx="1395397" cy="21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641705" y="4732339"/>
            <a:ext cx="1395397" cy="26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Keyword match, score, show top 50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554678" y="4453838"/>
            <a:ext cx="1487910" cy="21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Analysis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554678" y="4732339"/>
            <a:ext cx="1487910" cy="26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squad, metrics, recommend formation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02449" y="5474375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Classes: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02449" y="5772031"/>
            <a:ext cx="2570678" cy="740450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531037" y="590061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DataProcessor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31037" y="6111716"/>
            <a:ext cx="231350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loading, expansion, and feature engineering of player data.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29801" y="5772031"/>
            <a:ext cx="2570678" cy="740450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158389" y="590061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AIModels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58389" y="6111716"/>
            <a:ext cx="231350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training of RF + NN models and ensemble predictions.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657153" y="5772031"/>
            <a:ext cx="2570797" cy="740450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785741" y="5900618"/>
            <a:ext cx="156114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IntelligentSearchEngine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785741" y="6111716"/>
            <a:ext cx="231362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keyword detection and player ranking for efficient searches.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402449" y="6569154"/>
            <a:ext cx="3884414" cy="740450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531037" y="66977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TeamTacticsAnalyzer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31037" y="6908840"/>
            <a:ext cx="362723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squad analysis, identifies weaknesses, and recommends formations.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343537" y="6569154"/>
            <a:ext cx="3884414" cy="740450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472124" y="66977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ScoutingAssistantGUI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72124" y="6908840"/>
            <a:ext cx="362723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the Tkinter interface for both phases, ensuring user interaction.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402449" y="7394615"/>
            <a:ext cx="2414826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Transfer Between Phases: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02449" y="7692271"/>
            <a:ext cx="7825502" cy="279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players from Phase-1 are stored in memory via the </a:t>
            </a: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SquadBuilder</a:t>
            </a: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class. Phase-2 then retrieves this squad as a DataFrame for immediate analysis, eliminating the need for file I/O for fast, seamless transfer.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397" y="419160"/>
            <a:ext cx="9323665" cy="62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Phase-1 Search Output Example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4016" y="1215568"/>
            <a:ext cx="13237607" cy="29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intelligent search engine quickly identifies and ranks players based on natural language queries.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6397" y="1725106"/>
            <a:ext cx="3512225" cy="37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Query: “I need a midfielder"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6397" y="2268037"/>
            <a:ext cx="6376035" cy="59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query combines age, passing, and position attributes to find highly relevant players.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043638" y="3258178"/>
            <a:ext cx="1506965" cy="2387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Action: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9043639" y="3888494"/>
            <a:ext cx="5586761" cy="58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Clicking on a player like Kimmich adds them directly to the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squad.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043639" y="4638906"/>
            <a:ext cx="5430644" cy="259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Click on Kimmich → "Add to Squad"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Player is stored in the squad list, and the squad count updates to "1 player".</a:t>
            </a:r>
            <a:endParaRPr lang="en-US" sz="1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249E4B-11CA-7943-6DA2-CC4733A5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24" y="3258177"/>
            <a:ext cx="8637899" cy="44027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874" y="1036678"/>
            <a:ext cx="8597800" cy="829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Phase-2 Team Analysis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1874" y="1709544"/>
            <a:ext cx="2543294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Squad Analysis Example: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49095" y="2094192"/>
            <a:ext cx="4920258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squad of 20 selected players (2 GK, 4 DF, 6 MF, 8 FW)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9095" y="2460398"/>
            <a:ext cx="3002637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Output: Team Strength Assessment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98969" y="3142280"/>
            <a:ext cx="3052763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Calculations for Team Metrics: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8969" y="3846937"/>
            <a:ext cx="10201037" cy="139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Mean of Finishing_Quality for all Forward (FW) players.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Creativity: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Mean of Creativity for all Midfielder (MF) players.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Defense: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Mean of Defensive_Actions for all Defender (DF) players.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Discipline: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Mean of Discipline across all positions in the squad.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4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Overall: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Weighted average: (Attack × 0.4) + (Creativity × 0.3) + (Defense × 0.3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80BB0B-1721-D8CA-4CDE-E726C6217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309" y="1709544"/>
            <a:ext cx="6637595" cy="5502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6502"/>
            <a:ext cx="62436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Outcomes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2256"/>
            <a:ext cx="3906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Achieved in Current Semester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93400"/>
            <a:ext cx="6244709" cy="32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and implemented an AI-based football scouting and tactical analysis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a hybrid ML/DL ensemble scoring model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a complete data processing and feature engineering pipeline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intelligent player search and squad evaluation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 functional GUI for end-to-end system demonstration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812256"/>
            <a:ext cx="35231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</a:rPr>
              <a:t>Next Phase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393400"/>
            <a:ext cx="624470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 and submit a research paper based on the system architecture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structured experimental validation using real-world datasets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model evaluation with detailed performance analysis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222" y="991687"/>
            <a:ext cx="3504248" cy="868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References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39222" y="909995"/>
            <a:ext cx="13751957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39222" y="2183486"/>
            <a:ext cx="1882854" cy="25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Papers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9222" y="2765339"/>
            <a:ext cx="6722864" cy="390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Predicting Football Player Performance Using ML (2023)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9222" y="3267307"/>
            <a:ext cx="6722864" cy="32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 Value Prediction of Football Players Using ML (2023)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9222" y="3788616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in Soccer — Systematic Review (2022)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9222" y="4240245"/>
            <a:ext cx="6722864" cy="489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Prediction of Football Player Value Using Bayesian Ensemble Model (2022)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9222" y="4729353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Modeling to Evaluate Football Player Value (2022)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9222" y="5174647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PlayeRank: Data-Driven Player Ranking in Soccer (2018)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9222" y="5698256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Applied to Professional Football (2023)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9222" y="6221864"/>
            <a:ext cx="6722864" cy="38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Soccer Player Performance Prediction Using Neural Networks (2020)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9222" y="6852166"/>
            <a:ext cx="6722864" cy="38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Forecasting Player Development and Value (2025 preprint)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9222" y="7482467"/>
            <a:ext cx="6722864" cy="646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Soccer Match Outcome Prediction Using ML (2021)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75934" y="1377434"/>
            <a:ext cx="2148721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Real-World Applications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75934" y="1738193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Opta Sports (StatsPerform</a:t>
            </a:r>
            <a:r>
              <a:rPr lang="en-US" sz="95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75934" y="1982748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Transfermarkt Player Valuation Method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5934" y="2227302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SciSports (AI Scouting &amp; Player Tracking)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75934" y="2471857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Manchester City — City Fan Labs (AI Projects</a:t>
            </a:r>
            <a:r>
              <a:rPr lang="en-US" sz="95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75934" y="2716411"/>
            <a:ext cx="6722864" cy="20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 Barcelona — Barça Innovation Hub (AI in Sports)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848</TotalTime>
  <Words>1811</Words>
  <Application>Microsoft Office PowerPoint</Application>
  <PresentationFormat>Custom</PresentationFormat>
  <Paragraphs>312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MuseoModerno Medium</vt:lpstr>
      <vt:lpstr>Inter</vt:lpstr>
      <vt:lpstr>DM Sans Medium</vt:lpstr>
      <vt:lpstr>Arial</vt:lpstr>
      <vt:lpstr>Raleway</vt:lpstr>
      <vt:lpstr>Roboto</vt:lpstr>
      <vt:lpstr>Consolas</vt:lpstr>
      <vt:lpstr>Source Sans 3</vt:lpstr>
      <vt:lpstr>Office Theme</vt:lpstr>
      <vt:lpstr>Football Manager AI Assistant Data-Driven Player Scouting &amp; Tactical    Recommendation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Tanmay Singh</cp:lastModifiedBy>
  <cp:revision>4</cp:revision>
  <dcterms:created xsi:type="dcterms:W3CDTF">2026-02-13T20:23:41Z</dcterms:created>
  <dcterms:modified xsi:type="dcterms:W3CDTF">2026-02-14T20:57:35Z</dcterms:modified>
</cp:coreProperties>
</file>