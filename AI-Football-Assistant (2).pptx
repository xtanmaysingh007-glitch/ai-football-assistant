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8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7BA7BC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7BA7BC"/>
                </a:solidFill>
                <a:latin typeface="Arial"/>
              </a:rPr>
              <a:t>Model R² Comparison (Illustrative)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 (Indicative)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362-4D6D-ABAC-D89D80B70515}"/>
              </c:ext>
            </c:extLst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362-4D6D-ABAC-D89D80B70515}"/>
              </c:ext>
            </c:extLst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362-4D6D-ABAC-D89D80B70515}"/>
              </c:ext>
            </c:extLst>
          </c:dPt>
          <c:dPt>
            <c:idx val="3"/>
            <c:invertIfNegative val="0"/>
            <c:bubble3D val="0"/>
            <c:spPr>
              <a:solidFill>
                <a:srgbClr val="4AADC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362-4D6D-ABAC-D89D80B70515}"/>
              </c:ext>
            </c:extLst>
          </c:dPt>
          <c:dPt>
            <c:idx val="4"/>
            <c:invertIfNegative val="0"/>
            <c:bubble3D val="0"/>
            <c:spPr>
              <a:solidFill>
                <a:srgbClr val="00C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362-4D6D-ABAC-D89D80B70515}"/>
              </c:ext>
            </c:extLst>
          </c:dPt>
          <c:dPt>
            <c:idx val="5"/>
            <c:invertIfNegative val="0"/>
            <c:bubble3D val="0"/>
            <c:spPr>
              <a:solidFill>
                <a:srgbClr val="00C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362-4D6D-ABAC-D89D80B70515}"/>
              </c:ext>
            </c:extLst>
          </c:dPt>
          <c:dPt>
            <c:idx val="6"/>
            <c:invertIfNegative val="0"/>
            <c:bubble3D val="0"/>
            <c:spPr>
              <a:solidFill>
                <a:srgbClr val="4AADC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362-4D6D-ABAC-D89D80B70515}"/>
              </c:ext>
            </c:extLst>
          </c:dPt>
          <c:dPt>
            <c:idx val="7"/>
            <c:invertIfNegative val="0"/>
            <c:bubble3D val="0"/>
            <c:spPr>
              <a:solidFill>
                <a:srgbClr val="4AADC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362-4D6D-ABAC-D89D80B7051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Linear</c:v>
                </c:pt>
                <c:pt idx="1">
                  <c:v>Ridge</c:v>
                </c:pt>
                <c:pt idx="2">
                  <c:v>Lasso</c:v>
                </c:pt>
                <c:pt idx="3">
                  <c:v>Decision
Tree</c:v>
                </c:pt>
                <c:pt idx="4">
                  <c:v>Random
Forest</c:v>
                </c:pt>
                <c:pt idx="5">
                  <c:v>Gradient
Boost</c:v>
                </c:pt>
                <c:pt idx="6">
                  <c:v>SVR</c:v>
                </c:pt>
                <c:pt idx="7">
                  <c:v>Neural
Net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62</c:v>
                </c:pt>
                <c:pt idx="1">
                  <c:v>65</c:v>
                </c:pt>
                <c:pt idx="2">
                  <c:v>63</c:v>
                </c:pt>
                <c:pt idx="3">
                  <c:v>71</c:v>
                </c:pt>
                <c:pt idx="4">
                  <c:v>88</c:v>
                </c:pt>
                <c:pt idx="5">
                  <c:v>90</c:v>
                </c:pt>
                <c:pt idx="6">
                  <c:v>78</c:v>
                </c:pt>
                <c:pt idx="7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5362-4D6D-ABAC-D89D80B705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BA7B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BA7B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2E5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42E5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3637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7" indent="0" algn="ctr">
              <a:buNone/>
              <a:defRPr sz="1500"/>
            </a:lvl2pPr>
            <a:lvl3pPr marL="685772" indent="0" algn="ctr">
              <a:buNone/>
              <a:defRPr sz="1350"/>
            </a:lvl3pPr>
            <a:lvl4pPr marL="1028659" indent="0" algn="ctr">
              <a:buNone/>
              <a:defRPr sz="1200"/>
            </a:lvl4pPr>
            <a:lvl5pPr marL="1371545" indent="0" algn="ctr">
              <a:buNone/>
              <a:defRPr sz="1200"/>
            </a:lvl5pPr>
            <a:lvl6pPr marL="1714432" indent="0" algn="ctr">
              <a:buNone/>
              <a:defRPr sz="1200"/>
            </a:lvl6pPr>
            <a:lvl7pPr marL="2057318" indent="0" algn="ctr">
              <a:buNone/>
              <a:defRPr sz="1200"/>
            </a:lvl7pPr>
            <a:lvl8pPr marL="2400204" indent="0" algn="ctr">
              <a:buNone/>
              <a:defRPr sz="1200"/>
            </a:lvl8pPr>
            <a:lvl9pPr marL="2743091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20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IN" sz="1125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  <a:ln/>
        </p:spPr>
        <p:txBody>
          <a:bodyPr/>
          <a:lstStyle/>
          <a:p>
            <a:endParaRPr lang="en-IN" sz="1125"/>
          </a:p>
        </p:txBody>
      </p:sp>
    </p:spTree>
    <p:extLst>
      <p:ext uri="{BB962C8B-B14F-4D97-AF65-F5344CB8AC3E}">
        <p14:creationId xmlns:p14="http://schemas.microsoft.com/office/powerpoint/2010/main" val="1603869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1802.04987" TargetMode="External"/><Relationship Id="rId13" Type="http://schemas.openxmlformats.org/officeDocument/2006/relationships/hyperlink" Target="https://www.statsperform.com/opta/" TargetMode="External"/><Relationship Id="rId3" Type="http://schemas.openxmlformats.org/officeDocument/2006/relationships/hyperlink" Target="https://ijsdr.org/papers/IJSDR2304302.pdf" TargetMode="External"/><Relationship Id="rId7" Type="http://schemas.openxmlformats.org/officeDocument/2006/relationships/hyperlink" Target="https://arxiv.org/abs/2207.11361" TargetMode="External"/><Relationship Id="rId12" Type="http://schemas.openxmlformats.org/officeDocument/2006/relationships/hyperlink" Target="https://link.springer.com/article/10.1007/s42979-021-00713-1" TargetMode="External"/><Relationship Id="rId17" Type="http://schemas.openxmlformats.org/officeDocument/2006/relationships/hyperlink" Target="https://barcainnovationhub.fcbarcelona.com/blog/artificial-intelligence-applied-to-sports/" TargetMode="External"/><Relationship Id="rId2" Type="http://schemas.openxmlformats.org/officeDocument/2006/relationships/notesSlide" Target="../notesSlides/notesSlide18.xml"/><Relationship Id="rId16" Type="http://schemas.openxmlformats.org/officeDocument/2006/relationships/hyperlink" Target="https://www.mancity.com/cityfanlabs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arxiv.org/abs/2206.13246" TargetMode="External"/><Relationship Id="rId11" Type="http://schemas.openxmlformats.org/officeDocument/2006/relationships/hyperlink" Target="https://arxiv.org/abs/2502.07528" TargetMode="External"/><Relationship Id="rId5" Type="http://schemas.openxmlformats.org/officeDocument/2006/relationships/hyperlink" Target="https://www.ncbi.nlm.nih.gov/pmc/articles/PMC9806754/" TargetMode="External"/><Relationship Id="rId15" Type="http://schemas.openxmlformats.org/officeDocument/2006/relationships/hyperlink" Target="https://www.scisports.com/" TargetMode="External"/><Relationship Id="rId10" Type="http://schemas.openxmlformats.org/officeDocument/2006/relationships/hyperlink" Target="https://ieeexplore.ieee.org/document/9151318" TargetMode="External"/><Relationship Id="rId4" Type="http://schemas.openxmlformats.org/officeDocument/2006/relationships/hyperlink" Target="https://papers.ssrn.com/sol3/papers.cfm?abstract_id=4485449" TargetMode="External"/><Relationship Id="rId9" Type="http://schemas.openxmlformats.org/officeDocument/2006/relationships/hyperlink" Target="https://www.mdpi.com/2504-4990/7/3/85" TargetMode="External"/><Relationship Id="rId14" Type="http://schemas.openxmlformats.org/officeDocument/2006/relationships/hyperlink" Target="https://www.transfermark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0918" y="1861146"/>
            <a:ext cx="6710083" cy="2072119"/>
          </a:xfrm>
        </p:spPr>
        <p:txBody>
          <a:bodyPr/>
          <a:lstStyle/>
          <a:p>
            <a:pPr algn="l">
              <a:lnSpc>
                <a:spcPts val="3469"/>
              </a:lnSpc>
            </a:pPr>
            <a:r>
              <a:rPr lang="en-US" sz="3750" b="1" dirty="0"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Football Manager AI Assistant</a:t>
            </a:r>
            <a:br>
              <a:rPr lang="en-US" sz="3750" dirty="0"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</a:br>
            <a:r>
              <a:rPr lang="en-US" sz="2000" dirty="0"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Data-Driven Player Scouting &amp; Tactical    Recommendation System</a:t>
            </a:r>
            <a:br>
              <a:rPr lang="en-US" sz="3750" dirty="0"/>
            </a:br>
            <a:endParaRPr lang="en-US" sz="375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60" y="3668233"/>
            <a:ext cx="1888076" cy="917058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Tanmay Singh </a:t>
            </a:r>
          </a:p>
          <a:p>
            <a:r>
              <a:rPr lang="en-IN" dirty="0"/>
              <a:t>2427030035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6172200" y="3662915"/>
            <a:ext cx="2163743" cy="91705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/>
              <a:t>Supervised By:</a:t>
            </a:r>
            <a:br>
              <a:rPr lang="en-IN" sz="1800" dirty="0"/>
            </a:br>
            <a:r>
              <a:rPr lang="en-IN" sz="1800" dirty="0"/>
              <a:t>Dr. Akshay Jadhav</a:t>
            </a:r>
          </a:p>
          <a:p>
            <a:endParaRPr lang="en-IN" sz="1800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8" y="27030"/>
            <a:ext cx="3130529" cy="91705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145657" y="826995"/>
            <a:ext cx="6858000" cy="653592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100" b="1" dirty="0">
                <a:latin typeface="MuseoModerno Medium" panose="020B0604020202020204" charset="0"/>
              </a:rPr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100" b="1" dirty="0">
                <a:latin typeface="MuseoModerno Medium" panose="020B0604020202020204" charset="0"/>
              </a:rPr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105156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17320" y="1069848"/>
            <a:ext cx="7379208" cy="41148"/>
          </a:xfrm>
          <a:prstGeom prst="rect">
            <a:avLst/>
          </a:prstGeom>
          <a:solidFill>
            <a:srgbClr val="142E52"/>
          </a:solidFill>
          <a:ln w="12700">
            <a:solidFill>
              <a:srgbClr val="14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32520" y="48280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261872"/>
            <a:ext cx="4114800" cy="1051560"/>
          </a:xfrm>
          <a:prstGeom prst="rect">
            <a:avLst/>
          </a:prstGeom>
          <a:solidFill>
            <a:srgbClr val="142E52"/>
          </a:solidFill>
          <a:ln w="762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47472" y="1261872"/>
            <a:ext cx="502920" cy="1051560"/>
          </a:xfrm>
          <a:prstGeom prst="rect">
            <a:avLst/>
          </a:prstGeom>
          <a:solidFill>
            <a:srgbClr val="003D2E"/>
          </a:solidFill>
          <a:ln w="12700">
            <a:solidFill>
              <a:srgbClr val="00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1289304"/>
            <a:ext cx="46634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1399032"/>
            <a:ext cx="310896" cy="31089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1353312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371600" y="1719072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motivation &amp; industry context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47472" y="2496312"/>
            <a:ext cx="4114800" cy="1051560"/>
          </a:xfrm>
          <a:prstGeom prst="rect">
            <a:avLst/>
          </a:prstGeom>
          <a:solidFill>
            <a:srgbClr val="142E52"/>
          </a:solidFill>
          <a:ln w="762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47472" y="2496312"/>
            <a:ext cx="502920" cy="1051560"/>
          </a:xfrm>
          <a:prstGeom prst="rect">
            <a:avLst/>
          </a:prstGeom>
          <a:solidFill>
            <a:srgbClr val="003D2E"/>
          </a:solidFill>
          <a:ln w="12700">
            <a:solidFill>
              <a:srgbClr val="00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65760" y="2523744"/>
            <a:ext cx="46634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633472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71600" y="2587752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1371600" y="2953512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related research papers &amp; prior work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47472" y="3730752"/>
            <a:ext cx="4114800" cy="1051560"/>
          </a:xfrm>
          <a:prstGeom prst="rect">
            <a:avLst/>
          </a:prstGeom>
          <a:solidFill>
            <a:srgbClr val="142E52"/>
          </a:solidFill>
          <a:ln w="762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347472" y="3730752"/>
            <a:ext cx="502920" cy="1051560"/>
          </a:xfrm>
          <a:prstGeom prst="rect">
            <a:avLst/>
          </a:prstGeom>
          <a:solidFill>
            <a:srgbClr val="003D2E"/>
          </a:solidFill>
          <a:ln w="12700">
            <a:solidFill>
              <a:srgbClr val="00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365760" y="3758184"/>
            <a:ext cx="46634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3867912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71600" y="3822192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1371600" y="4187952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 this project addresses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681728" y="1261872"/>
            <a:ext cx="4114800" cy="1051560"/>
          </a:xfrm>
          <a:prstGeom prst="rect">
            <a:avLst/>
          </a:prstGeom>
          <a:solidFill>
            <a:srgbClr val="142E52"/>
          </a:solidFill>
          <a:ln w="762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4681728" y="1261872"/>
            <a:ext cx="502920" cy="1051560"/>
          </a:xfrm>
          <a:prstGeom prst="rect">
            <a:avLst/>
          </a:prstGeom>
          <a:solidFill>
            <a:srgbClr val="003D2E"/>
          </a:solidFill>
          <a:ln w="12700">
            <a:solidFill>
              <a:srgbClr val="00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/>
          <p:nvPr/>
        </p:nvSpPr>
        <p:spPr>
          <a:xfrm>
            <a:off x="4700016" y="1289304"/>
            <a:ext cx="46634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9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1399032"/>
            <a:ext cx="310896" cy="3108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705856" y="1353312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5705856" y="1719072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goals of the Football Manager AI system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681728" y="2496312"/>
            <a:ext cx="4114800" cy="1051560"/>
          </a:xfrm>
          <a:prstGeom prst="rect">
            <a:avLst/>
          </a:prstGeom>
          <a:solidFill>
            <a:srgbClr val="142E52"/>
          </a:solidFill>
          <a:ln w="762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4681728" y="2496312"/>
            <a:ext cx="502920" cy="1051560"/>
          </a:xfrm>
          <a:prstGeom prst="rect">
            <a:avLst/>
          </a:prstGeom>
          <a:solidFill>
            <a:srgbClr val="003D2E"/>
          </a:solidFill>
          <a:ln w="12700">
            <a:solidFill>
              <a:srgbClr val="00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/>
          <p:nvPr/>
        </p:nvSpPr>
        <p:spPr>
          <a:xfrm>
            <a:off x="4700016" y="2523744"/>
            <a:ext cx="46634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9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2633472"/>
            <a:ext cx="310896" cy="31089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705856" y="2587752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5705856" y="2953512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architecture, features, AutoML pipeline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4681728" y="3730752"/>
            <a:ext cx="4114800" cy="1051560"/>
          </a:xfrm>
          <a:prstGeom prst="rect">
            <a:avLst/>
          </a:prstGeom>
          <a:solidFill>
            <a:srgbClr val="142E52"/>
          </a:solidFill>
          <a:ln w="762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2"/>
          <p:cNvSpPr/>
          <p:nvPr/>
        </p:nvSpPr>
        <p:spPr>
          <a:xfrm>
            <a:off x="4681728" y="3730752"/>
            <a:ext cx="502920" cy="1051560"/>
          </a:xfrm>
          <a:prstGeom prst="rect">
            <a:avLst/>
          </a:prstGeom>
          <a:solidFill>
            <a:srgbClr val="003D2E"/>
          </a:solidFill>
          <a:ln w="12700">
            <a:solidFill>
              <a:srgbClr val="00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3"/>
          <p:cNvSpPr/>
          <p:nvPr/>
        </p:nvSpPr>
        <p:spPr>
          <a:xfrm>
            <a:off x="4700016" y="3758184"/>
            <a:ext cx="46634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9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3867912"/>
            <a:ext cx="310896" cy="31089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705856" y="3822192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Outcome</a:t>
            </a:r>
            <a:endParaRPr lang="en-US" sz="1350" dirty="0"/>
          </a:p>
        </p:txBody>
      </p:sp>
      <p:sp>
        <p:nvSpPr>
          <p:cNvPr id="43" name="Text 35"/>
          <p:cNvSpPr/>
          <p:nvPr/>
        </p:nvSpPr>
        <p:spPr>
          <a:xfrm>
            <a:off x="5705856" y="4187952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comparison, AI Score, working prototype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1/2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105156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17320" y="1069848"/>
            <a:ext cx="7379208" cy="41148"/>
          </a:xfrm>
          <a:prstGeom prst="rect">
            <a:avLst/>
          </a:prstGeom>
          <a:solidFill>
            <a:srgbClr val="142E52"/>
          </a:solidFill>
          <a:ln w="12700">
            <a:solidFill>
              <a:srgbClr val="14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32520" y="48280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17043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clubs generate massive amounts of player data every season — yet most decision-making still relies on manual scouting. This project uses machine learning to turn raw statistics into actionable player ratings.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1737360"/>
            <a:ext cx="8412480" cy="694944"/>
          </a:xfrm>
          <a:prstGeom prst="rect">
            <a:avLst/>
          </a:prstGeom>
          <a:solidFill>
            <a:srgbClr val="142E52"/>
          </a:solidFill>
          <a:ln w="1524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47472" y="1737360"/>
            <a:ext cx="54864" cy="69494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20240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41832" y="18013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Traditional Scouting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41832" y="20848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observation and basic stats (goals, assists) are subjective and miss critical contributions like progression, creativity, and defensive work.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7472" y="2560320"/>
            <a:ext cx="8412480" cy="694944"/>
          </a:xfrm>
          <a:prstGeom prst="rect">
            <a:avLst/>
          </a:prstGeom>
          <a:solidFill>
            <a:srgbClr val="142E52"/>
          </a:solidFill>
          <a:ln w="1524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47472" y="2560320"/>
            <a:ext cx="54864" cy="69494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743200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41832" y="26243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Machine Learning?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941832" y="290779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can process large datasets, detect hidden patterns, and generate consistent scores — removing human bias from player evaluation.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47472" y="3383280"/>
            <a:ext cx="8412480" cy="694944"/>
          </a:xfrm>
          <a:prstGeom prst="rect">
            <a:avLst/>
          </a:prstGeom>
          <a:solidFill>
            <a:srgbClr val="142E52"/>
          </a:solidFill>
          <a:ln w="1524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347472" y="3383280"/>
            <a:ext cx="54864" cy="69494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66160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41832" y="34472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System Does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941832" y="373075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domain-specific feature engineering and an AutoML-style pipeline to generate an AI Score (0–99) for every player in the dataset.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47472" y="4206240"/>
            <a:ext cx="8412480" cy="694944"/>
          </a:xfrm>
          <a:prstGeom prst="rect">
            <a:avLst/>
          </a:prstGeom>
          <a:solidFill>
            <a:srgbClr val="142E52"/>
          </a:solidFill>
          <a:ln w="1524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47472" y="4206240"/>
            <a:ext cx="54864" cy="69494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389120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41832" y="42702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Benefits?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41832" y="455371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clubs and analysts who cannot afford commercial tools like Opta or SciSports can use this open, data-driven alternative.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2/2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Context — Real-World AI in Football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105156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17320" y="1069848"/>
            <a:ext cx="7379208" cy="41148"/>
          </a:xfrm>
          <a:prstGeom prst="rect">
            <a:avLst/>
          </a:prstGeom>
          <a:solidFill>
            <a:srgbClr val="142E52"/>
          </a:solidFill>
          <a:ln w="12700">
            <a:solidFill>
              <a:srgbClr val="14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32520" y="48280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207008"/>
          <a:ext cx="8430768" cy="3520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4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Tech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Opta Sports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xG, xA, tracking data for professional clubs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+ Statistical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Expensive paid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Transfermarkt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Estimates player market value from performance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+ ML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transparent 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SciSports BallJames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AI-based video tracking for tactical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+ CV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HD cameras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City Fan Labs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for fan analytics and decision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Analytics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to fan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Barça Innovation Hub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Heatmaps, passing networks for tactical evaluation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+ Computer 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publicly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47472" y="477316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This project provides a free, open alternative using publicly available FBref-style statistics.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 1/2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Overview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105156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17320" y="1069848"/>
            <a:ext cx="7379208" cy="41148"/>
          </a:xfrm>
          <a:prstGeom prst="rect">
            <a:avLst/>
          </a:prstGeom>
          <a:solidFill>
            <a:srgbClr val="142E52"/>
          </a:solidFill>
          <a:ln w="12700">
            <a:solidFill>
              <a:srgbClr val="14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32520" y="48280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207008"/>
          <a:ext cx="8430768" cy="3474720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4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Predicting Football Player Performance Using ML (2023)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RF, XGBoost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≈ 0.87; RF performs best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Value Prediction of Football Players (2023)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≈ 0.90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Applications in Soccer – Systematic Review (2022)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SVM, RF, ANN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enhances scouting reliability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 Player Value Model (2022)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 Ensemble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RMSE; needs clean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Modeling to Evaluate Football Player Value (2022)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accuracy on shots &amp; duels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 2/2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Overview (continued)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105156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17320" y="1069848"/>
            <a:ext cx="7379208" cy="41148"/>
          </a:xfrm>
          <a:prstGeom prst="rect">
            <a:avLst/>
          </a:prstGeom>
          <a:solidFill>
            <a:srgbClr val="142E52"/>
          </a:solidFill>
          <a:ln w="12700">
            <a:solidFill>
              <a:srgbClr val="14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32520" y="48280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207008"/>
          <a:ext cx="8430768" cy="3474720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4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PlayeRank: Data-Driven Player Ranking in Soccer (2018)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+ Scoring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 position-aware rankings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Football Performance Prediction (2021)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accuracy; heavy training 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 Player Performance Prediction (2020)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performance; overfitting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Forecasting Player Development and Value (2025)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+ ML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future prediction; early instability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Soccer Match Outcome Prediction Using ML (2021)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SVM, RF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8DD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75–80% accuracy on match results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47472" y="4736592"/>
            <a:ext cx="8430768" cy="274320"/>
          </a:xfrm>
          <a:prstGeom prst="rect">
            <a:avLst/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7200" y="473659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No existing open system combines FBref feature engineering + AutoML model selection + integrated scouting modules.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105156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17320" y="1069848"/>
            <a:ext cx="7379208" cy="41148"/>
          </a:xfrm>
          <a:prstGeom prst="rect">
            <a:avLst/>
          </a:prstGeom>
          <a:solidFill>
            <a:srgbClr val="142E52"/>
          </a:solidFill>
          <a:ln w="12700">
            <a:solidFill>
              <a:srgbClr val="14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32520" y="48280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207008"/>
            <a:ext cx="8430768" cy="1005840"/>
          </a:xfrm>
          <a:prstGeom prst="rect">
            <a:avLst/>
          </a:prstGeom>
          <a:solidFill>
            <a:srgbClr val="003D2E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47472" y="1207008"/>
            <a:ext cx="91440" cy="10058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66928" y="1261872"/>
            <a:ext cx="8083296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football clubs and independent analysts lack an integrated, data-driven system that combines player scouting and squad analysis into a single decision-support platform — one that is objective, automated, and accessible without expensive commercial tools.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377440"/>
            <a:ext cx="4114800" cy="320040"/>
          </a:xfrm>
          <a:prstGeom prst="rect">
            <a:avLst/>
          </a:prstGeom>
          <a:solidFill>
            <a:srgbClr val="3D1515"/>
          </a:solidFill>
          <a:ln w="1016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7472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Scenario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798064"/>
            <a:ext cx="4114800" cy="457200"/>
          </a:xfrm>
          <a:prstGeom prst="rect">
            <a:avLst/>
          </a:prstGeom>
          <a:solidFill>
            <a:srgbClr val="142E52"/>
          </a:solidFill>
          <a:ln w="762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47472" y="2798064"/>
            <a:ext cx="54864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12064" y="2834640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scouting is time-consuming and subjective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3328416"/>
            <a:ext cx="4114800" cy="457200"/>
          </a:xfrm>
          <a:prstGeom prst="rect">
            <a:avLst/>
          </a:prstGeom>
          <a:solidFill>
            <a:srgbClr val="142E52"/>
          </a:solidFill>
          <a:ln w="762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47472" y="3328416"/>
            <a:ext cx="54864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12064" y="3364992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stats miss critical contributions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" y="3858768"/>
            <a:ext cx="4114800" cy="457200"/>
          </a:xfrm>
          <a:prstGeom prst="rect">
            <a:avLst/>
          </a:prstGeom>
          <a:solidFill>
            <a:srgbClr val="142E52"/>
          </a:solidFill>
          <a:ln w="762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47472" y="3858768"/>
            <a:ext cx="54864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12064" y="3895344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tool integrates search + analysis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" y="4389120"/>
            <a:ext cx="4114800" cy="457200"/>
          </a:xfrm>
          <a:prstGeom prst="rect">
            <a:avLst/>
          </a:prstGeom>
          <a:solidFill>
            <a:srgbClr val="142E52"/>
          </a:solidFill>
          <a:ln w="762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47472" y="4389120"/>
            <a:ext cx="54864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12064" y="4425696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tools inaccessible for small clubs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81728" y="2377440"/>
            <a:ext cx="4114800" cy="320040"/>
          </a:xfrm>
          <a:prstGeom prst="rect">
            <a:avLst/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81728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Solution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81728" y="2798064"/>
            <a:ext cx="4114800" cy="457200"/>
          </a:xfrm>
          <a:prstGeom prst="rect">
            <a:avLst/>
          </a:prstGeom>
          <a:solidFill>
            <a:srgbClr val="142E52"/>
          </a:solidFill>
          <a:ln w="762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681728" y="2798064"/>
            <a:ext cx="54864" cy="4572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46320" y="2834640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objective player scoring using ML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81728" y="3328416"/>
            <a:ext cx="4114800" cy="457200"/>
          </a:xfrm>
          <a:prstGeom prst="rect">
            <a:avLst/>
          </a:prstGeom>
          <a:solidFill>
            <a:srgbClr val="142E52"/>
          </a:solidFill>
          <a:ln w="762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681728" y="3328416"/>
            <a:ext cx="54864" cy="4572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46320" y="3364992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features that reflect real performance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81728" y="3858768"/>
            <a:ext cx="4114800" cy="457200"/>
          </a:xfrm>
          <a:prstGeom prst="rect">
            <a:avLst/>
          </a:prstGeom>
          <a:solidFill>
            <a:srgbClr val="142E52"/>
          </a:solidFill>
          <a:ln w="762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681728" y="3858768"/>
            <a:ext cx="54864" cy="4572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46320" y="3895344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platform: search, compare, build, analyse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81728" y="4389120"/>
            <a:ext cx="4114800" cy="457200"/>
          </a:xfrm>
          <a:prstGeom prst="rect">
            <a:avLst/>
          </a:prstGeom>
          <a:solidFill>
            <a:srgbClr val="142E52"/>
          </a:solidFill>
          <a:ln w="762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681728" y="4389120"/>
            <a:ext cx="54864" cy="4572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46320" y="4425696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system built on publicly available FBref-style data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105156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17320" y="1069848"/>
            <a:ext cx="7379208" cy="41148"/>
          </a:xfrm>
          <a:prstGeom prst="rect">
            <a:avLst/>
          </a:prstGeom>
          <a:solidFill>
            <a:srgbClr val="142E52"/>
          </a:solidFill>
          <a:ln w="12700">
            <a:solidFill>
              <a:srgbClr val="14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32520" y="48280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261872"/>
            <a:ext cx="8430768" cy="804672"/>
          </a:xfrm>
          <a:prstGeom prst="rect">
            <a:avLst/>
          </a:prstGeom>
          <a:solidFill>
            <a:srgbClr val="142E52"/>
          </a:solidFill>
          <a:ln w="889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47472" y="1261872"/>
            <a:ext cx="54864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47472" y="1261872"/>
            <a:ext cx="640080" cy="804672"/>
          </a:xfrm>
          <a:prstGeom prst="rect">
            <a:avLst/>
          </a:prstGeom>
          <a:solidFill>
            <a:srgbClr val="003D2E"/>
          </a:solidFill>
          <a:ln w="12700">
            <a:solidFill>
              <a:srgbClr val="00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7472" y="1261872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481328"/>
            <a:ext cx="347472" cy="3474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17904" y="13167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Domain-Specific Features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517904" y="1609344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10+ meaningful metrics (Finishing Quality, Creativity, Defensive Actions, Ball Progression, etc.) using an FBref-inspired feature engineering pipeline.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47472" y="2203704"/>
            <a:ext cx="8430768" cy="804672"/>
          </a:xfrm>
          <a:prstGeom prst="rect">
            <a:avLst/>
          </a:prstGeom>
          <a:solidFill>
            <a:srgbClr val="142E52"/>
          </a:solidFill>
          <a:ln w="889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347472" y="2203704"/>
            <a:ext cx="54864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347472" y="2203704"/>
            <a:ext cx="640080" cy="804672"/>
          </a:xfrm>
          <a:prstGeom prst="rect">
            <a:avLst/>
          </a:prstGeom>
          <a:solidFill>
            <a:srgbClr val="003D2E"/>
          </a:solidFill>
          <a:ln w="12700">
            <a:solidFill>
              <a:srgbClr val="00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47472" y="2203704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2423160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517904" y="2258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Player Search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517904" y="2551176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keyword-based search system that ranks players by AI Score, with position-aware filtering for targeted scouting.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47472" y="3145536"/>
            <a:ext cx="8430768" cy="804672"/>
          </a:xfrm>
          <a:prstGeom prst="rect">
            <a:avLst/>
          </a:prstGeom>
          <a:solidFill>
            <a:srgbClr val="142E52"/>
          </a:solidFill>
          <a:ln w="889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347472" y="3145536"/>
            <a:ext cx="54864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347472" y="3145536"/>
            <a:ext cx="640080" cy="804672"/>
          </a:xfrm>
          <a:prstGeom prst="rect">
            <a:avLst/>
          </a:prstGeom>
          <a:solidFill>
            <a:srgbClr val="003D2E"/>
          </a:solidFill>
          <a:ln w="12700">
            <a:solidFill>
              <a:srgbClr val="00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347472" y="3145536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3364992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517904" y="3200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Predictive Models — AutoML Style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517904" y="349300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8 ML models (Linear, Ridge, Lasso, Decision Tree, Random Forest, Gradient Boosting, SVR, Neural Network) and auto-select the best one.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47472" y="4087368"/>
            <a:ext cx="8430768" cy="804672"/>
          </a:xfrm>
          <a:prstGeom prst="rect">
            <a:avLst/>
          </a:prstGeom>
          <a:solidFill>
            <a:srgbClr val="142E52"/>
          </a:solidFill>
          <a:ln w="889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5"/>
          <p:cNvSpPr/>
          <p:nvPr/>
        </p:nvSpPr>
        <p:spPr>
          <a:xfrm>
            <a:off x="347472" y="4087368"/>
            <a:ext cx="54864" cy="8046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347472" y="4087368"/>
            <a:ext cx="640080" cy="804672"/>
          </a:xfrm>
          <a:prstGeom prst="rect">
            <a:avLst/>
          </a:prstGeom>
          <a:solidFill>
            <a:srgbClr val="003D2E"/>
          </a:solidFill>
          <a:ln w="12700">
            <a:solidFill>
              <a:srgbClr val="00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/>
          <p:nvPr/>
        </p:nvSpPr>
        <p:spPr>
          <a:xfrm>
            <a:off x="347472" y="4087368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4306824"/>
            <a:ext cx="347472" cy="34747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517904" y="4142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Squad Analysis &amp; Tactical Tools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1517904" y="443484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team strength across Attack, Creativity, Defense, and Discipline dimensions and provide balance recommendations.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1/5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 — System Architecture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105156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17320" y="1069848"/>
            <a:ext cx="7379208" cy="41148"/>
          </a:xfrm>
          <a:prstGeom prst="rect">
            <a:avLst/>
          </a:prstGeom>
          <a:solidFill>
            <a:srgbClr val="142E52"/>
          </a:solidFill>
          <a:ln w="12700">
            <a:solidFill>
              <a:srgbClr val="14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32520" y="48280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170432"/>
            <a:ext cx="8430768" cy="621792"/>
          </a:xfrm>
          <a:prstGeom prst="rect">
            <a:avLst/>
          </a:prstGeom>
          <a:solidFill>
            <a:srgbClr val="142E52"/>
          </a:solidFill>
          <a:ln w="15240">
            <a:solidFill>
              <a:srgbClr val="00A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47472" y="1170432"/>
            <a:ext cx="1143000" cy="621792"/>
          </a:xfrm>
          <a:prstGeom prst="rect">
            <a:avLst/>
          </a:prstGeom>
          <a:solidFill>
            <a:srgbClr val="003D2E"/>
          </a:solidFill>
          <a:ln w="12700">
            <a:solidFill>
              <a:srgbClr val="00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47472" y="1170432"/>
            <a:ext cx="64008" cy="621792"/>
          </a:xfrm>
          <a:prstGeom prst="rect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07592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13533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490472" y="1243584"/>
            <a:ext cx="36576" cy="475488"/>
          </a:xfrm>
          <a:prstGeom prst="rect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609344" y="1243584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Dataset (3000+ FBref-style player records)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09344" y="1481328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Preprocessing — missing value imputation, Min-Max normalization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06824" y="1792224"/>
            <a:ext cx="530352" cy="128016"/>
          </a:xfrm>
          <a:prstGeom prst="rect">
            <a:avLst/>
          </a:prstGeom>
          <a:solidFill>
            <a:srgbClr val="7BA7BC"/>
          </a:solidFill>
          <a:ln w="12700">
            <a:solidFill>
              <a:srgbClr val="7BA7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4206240" y="1901952"/>
            <a:ext cx="731520" cy="109728"/>
          </a:xfrm>
          <a:prstGeom prst="rect">
            <a:avLst/>
          </a:prstGeom>
          <a:solidFill>
            <a:srgbClr val="7BA7BC"/>
          </a:solidFill>
          <a:ln w="12700">
            <a:solidFill>
              <a:srgbClr val="7BA7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347472" y="2029968"/>
            <a:ext cx="8430768" cy="621792"/>
          </a:xfrm>
          <a:prstGeom prst="rect">
            <a:avLst/>
          </a:prstGeom>
          <a:solidFill>
            <a:srgbClr val="142E52"/>
          </a:solidFill>
          <a:ln w="1524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347472" y="2029968"/>
            <a:ext cx="1143000" cy="621792"/>
          </a:xfrm>
          <a:prstGeom prst="rect">
            <a:avLst/>
          </a:prstGeom>
          <a:solidFill>
            <a:srgbClr val="003D2E"/>
          </a:solidFill>
          <a:ln w="12700">
            <a:solidFill>
              <a:srgbClr val="00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347472" y="2029968"/>
            <a:ext cx="64008" cy="6217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167128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68680" y="22128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LAYER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1490472" y="2103120"/>
            <a:ext cx="36576" cy="47548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1609344" y="2103120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Feature Engineering — 7 derived domain-specific metrics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609344" y="2340864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Normalization — all features scaled 0–100 for consistency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306824" y="2651760"/>
            <a:ext cx="530352" cy="128016"/>
          </a:xfrm>
          <a:prstGeom prst="rect">
            <a:avLst/>
          </a:prstGeom>
          <a:solidFill>
            <a:srgbClr val="7BA7BC"/>
          </a:solidFill>
          <a:ln w="12700">
            <a:solidFill>
              <a:srgbClr val="7BA7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4206240" y="2761488"/>
            <a:ext cx="731520" cy="109728"/>
          </a:xfrm>
          <a:prstGeom prst="rect">
            <a:avLst/>
          </a:prstGeom>
          <a:solidFill>
            <a:srgbClr val="7BA7BC"/>
          </a:solidFill>
          <a:ln w="12700">
            <a:solidFill>
              <a:srgbClr val="7BA7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4"/>
          <p:cNvSpPr/>
          <p:nvPr/>
        </p:nvSpPr>
        <p:spPr>
          <a:xfrm>
            <a:off x="347472" y="2889504"/>
            <a:ext cx="8430768" cy="868680"/>
          </a:xfrm>
          <a:prstGeom prst="rect">
            <a:avLst/>
          </a:prstGeom>
          <a:solidFill>
            <a:srgbClr val="142E52"/>
          </a:solidFill>
          <a:ln w="1524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5"/>
          <p:cNvSpPr/>
          <p:nvPr/>
        </p:nvSpPr>
        <p:spPr>
          <a:xfrm>
            <a:off x="347472" y="2889504"/>
            <a:ext cx="1143000" cy="868680"/>
          </a:xfrm>
          <a:prstGeom prst="rect">
            <a:avLst/>
          </a:prstGeom>
          <a:solidFill>
            <a:srgbClr val="003D2E"/>
          </a:solidFill>
          <a:ln w="12700">
            <a:solidFill>
              <a:srgbClr val="00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6"/>
          <p:cNvSpPr/>
          <p:nvPr/>
        </p:nvSpPr>
        <p:spPr>
          <a:xfrm>
            <a:off x="347472" y="2889504"/>
            <a:ext cx="64008" cy="8686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150108"/>
            <a:ext cx="347472" cy="34747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68680" y="31958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LAYER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1490472" y="2962656"/>
            <a:ext cx="36576" cy="7223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9"/>
          <p:cNvSpPr/>
          <p:nvPr/>
        </p:nvSpPr>
        <p:spPr>
          <a:xfrm>
            <a:off x="1609344" y="2962656"/>
            <a:ext cx="70408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Model Training — 8 models trained (AutoML-style pipeline)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1609344" y="3203448"/>
            <a:ext cx="70408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Model Comparison — R², RMSE, MAE evaluated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1609344" y="3444240"/>
            <a:ext cx="7040880" cy="240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Model Selection — best model chosen automatically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4306824" y="3758184"/>
            <a:ext cx="530352" cy="128016"/>
          </a:xfrm>
          <a:prstGeom prst="rect">
            <a:avLst/>
          </a:prstGeom>
          <a:solidFill>
            <a:srgbClr val="7BA7BC"/>
          </a:solidFill>
          <a:ln w="12700">
            <a:solidFill>
              <a:srgbClr val="7BA7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3"/>
          <p:cNvSpPr/>
          <p:nvPr/>
        </p:nvSpPr>
        <p:spPr>
          <a:xfrm>
            <a:off x="4206240" y="3867912"/>
            <a:ext cx="731520" cy="109728"/>
          </a:xfrm>
          <a:prstGeom prst="rect">
            <a:avLst/>
          </a:prstGeom>
          <a:solidFill>
            <a:srgbClr val="7BA7BC"/>
          </a:solidFill>
          <a:ln w="12700">
            <a:solidFill>
              <a:srgbClr val="7BA7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4"/>
          <p:cNvSpPr/>
          <p:nvPr/>
        </p:nvSpPr>
        <p:spPr>
          <a:xfrm>
            <a:off x="347472" y="3995928"/>
            <a:ext cx="8430768" cy="548640"/>
          </a:xfrm>
          <a:prstGeom prst="rect">
            <a:avLst/>
          </a:prstGeom>
          <a:solidFill>
            <a:srgbClr val="142E52"/>
          </a:solidFill>
          <a:ln w="1524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5"/>
          <p:cNvSpPr/>
          <p:nvPr/>
        </p:nvSpPr>
        <p:spPr>
          <a:xfrm>
            <a:off x="347472" y="3995928"/>
            <a:ext cx="1143000" cy="548640"/>
          </a:xfrm>
          <a:prstGeom prst="rect">
            <a:avLst/>
          </a:prstGeom>
          <a:solidFill>
            <a:srgbClr val="003D2E"/>
          </a:solidFill>
          <a:ln w="12700">
            <a:solidFill>
              <a:srgbClr val="003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6"/>
          <p:cNvSpPr/>
          <p:nvPr/>
        </p:nvSpPr>
        <p:spPr>
          <a:xfrm>
            <a:off x="347472" y="3995928"/>
            <a:ext cx="64008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096512"/>
            <a:ext cx="347472" cy="347472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868680" y="41422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1490472" y="4069080"/>
            <a:ext cx="36576" cy="40233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39"/>
          <p:cNvSpPr/>
          <p:nvPr/>
        </p:nvSpPr>
        <p:spPr>
          <a:xfrm>
            <a:off x="1609344" y="4069080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Player Search  •  Player Comparison  •  Squad Builder  •  Squad Analysis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33">
            <a:extLst>
              <a:ext uri="{FF2B5EF4-FFF2-40B4-BE49-F238E27FC236}">
                <a16:creationId xmlns:a16="http://schemas.microsoft.com/office/drawing/2014/main" id="{6937A42A-DC7B-E02F-405C-700558BA5EEA}"/>
              </a:ext>
            </a:extLst>
          </p:cNvPr>
          <p:cNvSpPr/>
          <p:nvPr/>
        </p:nvSpPr>
        <p:spPr>
          <a:xfrm>
            <a:off x="936029" y="2878953"/>
            <a:ext cx="90913" cy="815223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 — System Flowchart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105156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17320" y="1069848"/>
            <a:ext cx="7379208" cy="41148"/>
          </a:xfrm>
          <a:prstGeom prst="rect">
            <a:avLst/>
          </a:prstGeom>
          <a:solidFill>
            <a:srgbClr val="142E52"/>
          </a:solidFill>
          <a:ln w="12700">
            <a:solidFill>
              <a:srgbClr val="14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32520" y="48280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67712" y="1938528"/>
            <a:ext cx="201168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432304" y="1865376"/>
            <a:ext cx="73152" cy="21945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47472" y="1298448"/>
            <a:ext cx="1920240" cy="1389888"/>
          </a:xfrm>
          <a:prstGeom prst="rect">
            <a:avLst/>
          </a:prstGeom>
          <a:solidFill>
            <a:srgbClr val="142E52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133856" y="1371600"/>
            <a:ext cx="347472" cy="3474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133856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1773936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1579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02336" y="239572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3000+ FBref-style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records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443984" y="1938528"/>
            <a:ext cx="201168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4608576" y="1865376"/>
            <a:ext cx="73152" cy="21945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2523744" y="1298448"/>
            <a:ext cx="1920240" cy="1389888"/>
          </a:xfrm>
          <a:prstGeom prst="rect">
            <a:avLst/>
          </a:prstGeom>
          <a:solidFill>
            <a:srgbClr val="142E52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3310128" y="1371600"/>
            <a:ext cx="347472" cy="3474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3310128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773936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615184" y="21579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578608" y="239572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missing values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normalize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620256" y="1938528"/>
            <a:ext cx="201168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6784848" y="1865376"/>
            <a:ext cx="73152" cy="21945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4700016" y="1298448"/>
            <a:ext cx="1920240" cy="1389888"/>
          </a:xfrm>
          <a:prstGeom prst="rect">
            <a:avLst/>
          </a:prstGeom>
          <a:solidFill>
            <a:srgbClr val="142E52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5486400" y="1371600"/>
            <a:ext cx="347472" cy="3474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548640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773936"/>
            <a:ext cx="329184" cy="32918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791456" y="21579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4754880" y="239572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custom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features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876288" y="1298448"/>
            <a:ext cx="1920240" cy="1389888"/>
          </a:xfrm>
          <a:prstGeom prst="rect">
            <a:avLst/>
          </a:prstGeom>
          <a:solidFill>
            <a:srgbClr val="142E52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8"/>
          <p:cNvSpPr/>
          <p:nvPr/>
        </p:nvSpPr>
        <p:spPr>
          <a:xfrm>
            <a:off x="7662672" y="1371600"/>
            <a:ext cx="347472" cy="3474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9"/>
          <p:cNvSpPr/>
          <p:nvPr/>
        </p:nvSpPr>
        <p:spPr>
          <a:xfrm>
            <a:off x="7662672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672" y="1773936"/>
            <a:ext cx="329184" cy="32918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967728" y="21579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6931152" y="239572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models trained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(AutoML-style)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8229600" y="1938528"/>
            <a:ext cx="50292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5"/>
          <p:cNvSpPr/>
          <p:nvPr/>
        </p:nvSpPr>
        <p:spPr>
          <a:xfrm>
            <a:off x="2267712" y="3767328"/>
            <a:ext cx="201168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6"/>
          <p:cNvSpPr/>
          <p:nvPr/>
        </p:nvSpPr>
        <p:spPr>
          <a:xfrm>
            <a:off x="2432304" y="3694176"/>
            <a:ext cx="73152" cy="21945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37"/>
          <p:cNvSpPr/>
          <p:nvPr/>
        </p:nvSpPr>
        <p:spPr>
          <a:xfrm>
            <a:off x="347472" y="3127248"/>
            <a:ext cx="1920240" cy="1389888"/>
          </a:xfrm>
          <a:prstGeom prst="rect">
            <a:avLst/>
          </a:prstGeom>
          <a:solidFill>
            <a:srgbClr val="142E52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38"/>
          <p:cNvSpPr/>
          <p:nvPr/>
        </p:nvSpPr>
        <p:spPr>
          <a:xfrm>
            <a:off x="1133856" y="3200400"/>
            <a:ext cx="347472" cy="3474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39"/>
          <p:cNvSpPr/>
          <p:nvPr/>
        </p:nvSpPr>
        <p:spPr>
          <a:xfrm>
            <a:off x="1133856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3856" y="3602736"/>
            <a:ext cx="329184" cy="329184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438912" y="39867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402336" y="422452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auto-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via R²/RMSE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4443984" y="3767328"/>
            <a:ext cx="201168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3"/>
          <p:cNvSpPr/>
          <p:nvPr/>
        </p:nvSpPr>
        <p:spPr>
          <a:xfrm>
            <a:off x="4608576" y="3694176"/>
            <a:ext cx="73152" cy="21945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4"/>
          <p:cNvSpPr/>
          <p:nvPr/>
        </p:nvSpPr>
        <p:spPr>
          <a:xfrm>
            <a:off x="2523744" y="3127248"/>
            <a:ext cx="1920240" cy="1389888"/>
          </a:xfrm>
          <a:prstGeom prst="rect">
            <a:avLst/>
          </a:prstGeom>
          <a:solidFill>
            <a:srgbClr val="142E52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45"/>
          <p:cNvSpPr/>
          <p:nvPr/>
        </p:nvSpPr>
        <p:spPr>
          <a:xfrm>
            <a:off x="3310128" y="3200400"/>
            <a:ext cx="347472" cy="3474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46"/>
          <p:cNvSpPr/>
          <p:nvPr/>
        </p:nvSpPr>
        <p:spPr>
          <a:xfrm>
            <a:off x="3310128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0128" y="3602736"/>
            <a:ext cx="329184" cy="329184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2615184" y="39867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 (0–99)</a:t>
            </a:r>
            <a:endParaRPr lang="en-US" sz="1100" dirty="0"/>
          </a:p>
        </p:txBody>
      </p:sp>
      <p:sp>
        <p:nvSpPr>
          <p:cNvPr id="56" name="Text 48"/>
          <p:cNvSpPr/>
          <p:nvPr/>
        </p:nvSpPr>
        <p:spPr>
          <a:xfrm>
            <a:off x="2578608" y="422452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normalized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0–99 scale</a:t>
            </a:r>
            <a:endParaRPr lang="en-US" sz="900" dirty="0"/>
          </a:p>
        </p:txBody>
      </p:sp>
      <p:sp>
        <p:nvSpPr>
          <p:cNvPr id="57" name="Shape 49"/>
          <p:cNvSpPr/>
          <p:nvPr/>
        </p:nvSpPr>
        <p:spPr>
          <a:xfrm>
            <a:off x="6620256" y="3767328"/>
            <a:ext cx="201168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0"/>
          <p:cNvSpPr/>
          <p:nvPr/>
        </p:nvSpPr>
        <p:spPr>
          <a:xfrm>
            <a:off x="6784848" y="3694176"/>
            <a:ext cx="73152" cy="21945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1"/>
          <p:cNvSpPr/>
          <p:nvPr/>
        </p:nvSpPr>
        <p:spPr>
          <a:xfrm>
            <a:off x="4700016" y="3127248"/>
            <a:ext cx="1920240" cy="1389888"/>
          </a:xfrm>
          <a:prstGeom prst="rect">
            <a:avLst/>
          </a:prstGeom>
          <a:solidFill>
            <a:srgbClr val="142E52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Shape 52"/>
          <p:cNvSpPr/>
          <p:nvPr/>
        </p:nvSpPr>
        <p:spPr>
          <a:xfrm>
            <a:off x="5486400" y="3200400"/>
            <a:ext cx="347472" cy="3474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3"/>
          <p:cNvSpPr/>
          <p:nvPr/>
        </p:nvSpPr>
        <p:spPr>
          <a:xfrm>
            <a:off x="5486400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pic>
        <p:nvPicPr>
          <p:cNvPr id="6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3602736"/>
            <a:ext cx="329184" cy="329184"/>
          </a:xfrm>
          <a:prstGeom prst="rect">
            <a:avLst/>
          </a:prstGeom>
        </p:spPr>
      </p:pic>
      <p:sp>
        <p:nvSpPr>
          <p:cNvPr id="63" name="Text 54"/>
          <p:cNvSpPr/>
          <p:nvPr/>
        </p:nvSpPr>
        <p:spPr>
          <a:xfrm>
            <a:off x="4791456" y="39867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Search</a:t>
            </a:r>
            <a:endParaRPr lang="en-US" sz="1100" dirty="0"/>
          </a:p>
        </p:txBody>
      </p:sp>
      <p:sp>
        <p:nvSpPr>
          <p:cNvPr id="64" name="Text 55"/>
          <p:cNvSpPr/>
          <p:nvPr/>
        </p:nvSpPr>
        <p:spPr>
          <a:xfrm>
            <a:off x="4754880" y="422452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results by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</a:t>
            </a:r>
            <a:endParaRPr lang="en-US" sz="900" dirty="0"/>
          </a:p>
        </p:txBody>
      </p:sp>
      <p:sp>
        <p:nvSpPr>
          <p:cNvPr id="65" name="Shape 56"/>
          <p:cNvSpPr/>
          <p:nvPr/>
        </p:nvSpPr>
        <p:spPr>
          <a:xfrm>
            <a:off x="6876288" y="3127248"/>
            <a:ext cx="1920240" cy="1389888"/>
          </a:xfrm>
          <a:prstGeom prst="rect">
            <a:avLst/>
          </a:prstGeom>
          <a:solidFill>
            <a:srgbClr val="142E52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6" name="Shape 57"/>
          <p:cNvSpPr/>
          <p:nvPr/>
        </p:nvSpPr>
        <p:spPr>
          <a:xfrm>
            <a:off x="7662672" y="3200400"/>
            <a:ext cx="347472" cy="34747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58"/>
          <p:cNvSpPr/>
          <p:nvPr/>
        </p:nvSpPr>
        <p:spPr>
          <a:xfrm>
            <a:off x="7662672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pic>
        <p:nvPicPr>
          <p:cNvPr id="6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2672" y="3602736"/>
            <a:ext cx="329184" cy="329184"/>
          </a:xfrm>
          <a:prstGeom prst="rect">
            <a:avLst/>
          </a:prstGeom>
        </p:spPr>
      </p:pic>
      <p:sp>
        <p:nvSpPr>
          <p:cNvPr id="69" name="Text 59"/>
          <p:cNvSpPr/>
          <p:nvPr/>
        </p:nvSpPr>
        <p:spPr>
          <a:xfrm>
            <a:off x="6967728" y="39867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Analysis</a:t>
            </a:r>
            <a:endParaRPr lang="en-US" sz="1100" dirty="0"/>
          </a:p>
        </p:txBody>
      </p:sp>
      <p:sp>
        <p:nvSpPr>
          <p:cNvPr id="70" name="Text 60"/>
          <p:cNvSpPr/>
          <p:nvPr/>
        </p:nvSpPr>
        <p:spPr>
          <a:xfrm>
            <a:off x="6931152" y="422452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/ Creativity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scores</a:t>
            </a:r>
            <a:endParaRPr lang="en-US" sz="900" dirty="0"/>
          </a:p>
        </p:txBody>
      </p:sp>
      <p:sp>
        <p:nvSpPr>
          <p:cNvPr id="71" name="Shape 33">
            <a:extLst>
              <a:ext uri="{FF2B5EF4-FFF2-40B4-BE49-F238E27FC236}">
                <a16:creationId xmlns:a16="http://schemas.microsoft.com/office/drawing/2014/main" id="{74985472-DD71-18E5-0582-307D79154013}"/>
              </a:ext>
            </a:extLst>
          </p:cNvPr>
          <p:cNvSpPr/>
          <p:nvPr/>
        </p:nvSpPr>
        <p:spPr>
          <a:xfrm rot="16200000">
            <a:off x="2139696" y="1673352"/>
            <a:ext cx="73152" cy="2468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3E4DAA3B-51E1-DDCC-7533-3A89CE7ED5BC}"/>
              </a:ext>
            </a:extLst>
          </p:cNvPr>
          <p:cNvSpPr/>
          <p:nvPr/>
        </p:nvSpPr>
        <p:spPr>
          <a:xfrm rot="16200000">
            <a:off x="4325112" y="1670186"/>
            <a:ext cx="73152" cy="2468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Shape 33">
            <a:extLst>
              <a:ext uri="{FF2B5EF4-FFF2-40B4-BE49-F238E27FC236}">
                <a16:creationId xmlns:a16="http://schemas.microsoft.com/office/drawing/2014/main" id="{5DEEED7F-11D0-0E0A-B090-B85A47B972C7}"/>
              </a:ext>
            </a:extLst>
          </p:cNvPr>
          <p:cNvSpPr/>
          <p:nvPr/>
        </p:nvSpPr>
        <p:spPr>
          <a:xfrm rot="16200000">
            <a:off x="6784848" y="1671359"/>
            <a:ext cx="73152" cy="2468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33">
            <a:extLst>
              <a:ext uri="{FF2B5EF4-FFF2-40B4-BE49-F238E27FC236}">
                <a16:creationId xmlns:a16="http://schemas.microsoft.com/office/drawing/2014/main" id="{F638D4BE-4BE4-D60A-5907-6FDB274A1C98}"/>
              </a:ext>
            </a:extLst>
          </p:cNvPr>
          <p:cNvSpPr/>
          <p:nvPr/>
        </p:nvSpPr>
        <p:spPr>
          <a:xfrm rot="16200000">
            <a:off x="8367346" y="2512020"/>
            <a:ext cx="71982" cy="78638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3"/>
          <p:cNvSpPr/>
          <p:nvPr/>
        </p:nvSpPr>
        <p:spPr>
          <a:xfrm>
            <a:off x="8732520" y="1938528"/>
            <a:ext cx="82296" cy="9875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2/5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105156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17320" y="1069848"/>
            <a:ext cx="7379208" cy="41148"/>
          </a:xfrm>
          <a:prstGeom prst="rect">
            <a:avLst/>
          </a:prstGeom>
          <a:solidFill>
            <a:srgbClr val="142E52"/>
          </a:solidFill>
          <a:ln w="12700">
            <a:solidFill>
              <a:srgbClr val="14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32520" y="48280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17043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Features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572768"/>
            <a:ext cx="4023360" cy="731520"/>
          </a:xfrm>
          <a:prstGeom prst="rect">
            <a:avLst/>
          </a:prstGeom>
          <a:solidFill>
            <a:srgbClr val="142E52"/>
          </a:solidFill>
          <a:ln w="1524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47472" y="1572768"/>
            <a:ext cx="54864" cy="7315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30352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domain-specific features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30352" y="1901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stats alone cannot represent a player's true contribution. Features are computed from the base dataset.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2423160"/>
            <a:ext cx="4023360" cy="731520"/>
          </a:xfrm>
          <a:prstGeom prst="rect">
            <a:avLst/>
          </a:prstGeom>
          <a:solidFill>
            <a:srgbClr val="142E52"/>
          </a:solidFill>
          <a:ln w="1524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47472" y="2423160"/>
            <a:ext cx="54864" cy="7315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30352" y="2478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attack, creativity, defense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0352" y="27523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grouped by role: offensive (Finishing Quality, Shot Efficiency), creative (Creativity), defensive (Defensive Actions), and general (Ball Progression, Involvement, Discipline).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3273552"/>
            <a:ext cx="4023360" cy="731520"/>
          </a:xfrm>
          <a:prstGeom prst="rect">
            <a:avLst/>
          </a:prstGeom>
          <a:solidFill>
            <a:srgbClr val="142E52"/>
          </a:solidFill>
          <a:ln w="1524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47472" y="3273552"/>
            <a:ext cx="54864" cy="7315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30352" y="33284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FBref &amp; xG models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30352" y="36027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design follows publicly available football analytics standards — particularly expected goals (xG) and progressive actions methodology.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4123944"/>
            <a:ext cx="4023360" cy="731520"/>
          </a:xfrm>
          <a:prstGeom prst="rect">
            <a:avLst/>
          </a:prstGeom>
          <a:solidFill>
            <a:srgbClr val="142E52"/>
          </a:solidFill>
          <a:ln w="1524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47472" y="4123944"/>
            <a:ext cx="54864" cy="7315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" y="4178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for consistency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0352" y="4453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are Min-Max scaled to 0–100 so no single metric dominates. A constant 0.1 is added to denominators to prevent division by zero.</a:t>
            </a:r>
            <a:endParaRPr lang="en-US" sz="9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53712" y="1170432"/>
          <a:ext cx="4224528" cy="385876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Finishing 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C89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Gls / (xG + 0.1)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Shot Efficiency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C89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SoT / (Sh + 0.1)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C89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Ast + xAG + KP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Midfield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Defensive Actions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C89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Tkl + Int + Blocks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Ball Progression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C89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PrgP + PrgC + PrgR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Involvement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C89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Touches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3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Discipline Penalty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C89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CrdY + 2×CrdR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3/5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Analysis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105156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17320" y="1069848"/>
            <a:ext cx="7379208" cy="41148"/>
          </a:xfrm>
          <a:prstGeom prst="rect">
            <a:avLst/>
          </a:prstGeom>
          <a:solidFill>
            <a:srgbClr val="142E52"/>
          </a:solidFill>
          <a:ln w="12700">
            <a:solidFill>
              <a:srgbClr val="14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32520" y="48280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70432"/>
            <a:ext cx="5029200" cy="3749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577840" y="1234440"/>
            <a:ext cx="3246120" cy="786384"/>
          </a:xfrm>
          <a:prstGeom prst="rect">
            <a:avLst/>
          </a:prstGeom>
          <a:solidFill>
            <a:srgbClr val="142E52"/>
          </a:solidFill>
          <a:ln w="1524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577840" y="1234440"/>
            <a:ext cx="54864" cy="78638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705856" y="128930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Predictors Identified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05856" y="158191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Defensive_Actions &amp; Pressing_Intensity (r=0.92) confirm defensive features carry redundant info.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577840" y="2167128"/>
            <a:ext cx="3246120" cy="786384"/>
          </a:xfrm>
          <a:prstGeom prst="rect">
            <a:avLst/>
          </a:prstGeom>
          <a:solidFill>
            <a:srgbClr val="142E52"/>
          </a:solidFill>
          <a:ln w="1524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577840" y="2167128"/>
            <a:ext cx="54864" cy="78638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705856" y="222199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Detected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05856" y="251460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Injury_Risk strongly inversely correlated with Defensive_Actions (r=−0.98) — useful for feature pruning.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77840" y="3099816"/>
            <a:ext cx="3246120" cy="786384"/>
          </a:xfrm>
          <a:prstGeom prst="rect">
            <a:avLst/>
          </a:prstGeom>
          <a:solidFill>
            <a:srgbClr val="142E52"/>
          </a:solidFill>
          <a:ln w="1524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577840" y="3099816"/>
            <a:ext cx="54864" cy="78638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705856" y="315468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Involvement ↔ Versatility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705856" y="3447288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Involvement and Versatility_Score show r=0.97, indicating high overlap — one may be dropped.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577840" y="4032504"/>
            <a:ext cx="3246120" cy="786384"/>
          </a:xfrm>
          <a:prstGeom prst="rect">
            <a:avLst/>
          </a:prstGeom>
          <a:solidFill>
            <a:srgbClr val="142E52"/>
          </a:solidFill>
          <a:ln w="15240">
            <a:solidFill>
              <a:srgbClr val="00A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5577840" y="4032504"/>
            <a:ext cx="54864" cy="786384"/>
          </a:xfrm>
          <a:prstGeom prst="rect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705856" y="408736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Model Reliability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705856" y="4379976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highly correlated redundant features reduces noise and improves prediction accuracy.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4/5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Position-Based Scoring &amp; Models Used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105156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17320" y="1069848"/>
            <a:ext cx="7379208" cy="41148"/>
          </a:xfrm>
          <a:prstGeom prst="rect">
            <a:avLst/>
          </a:prstGeom>
          <a:solidFill>
            <a:srgbClr val="142E52"/>
          </a:solidFill>
          <a:ln w="12700">
            <a:solidFill>
              <a:srgbClr val="14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32520" y="48280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170432"/>
            <a:ext cx="2651760" cy="2377440"/>
          </a:xfrm>
          <a:prstGeom prst="rect">
            <a:avLst/>
          </a:prstGeom>
          <a:solidFill>
            <a:srgbClr val="142E52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47472" y="1170432"/>
            <a:ext cx="265176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  Forward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160934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182880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Finishing Quality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210312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Shot Efficiency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" y="23774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Goals (Gls)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912" y="270662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38912" y="292608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Assists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318211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xG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3438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Creativity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170432"/>
            <a:ext cx="2651760" cy="2377440"/>
          </a:xfrm>
          <a:prstGeom prst="rect">
            <a:avLst/>
          </a:prstGeom>
          <a:solidFill>
            <a:srgbClr val="142E52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0" y="1170432"/>
            <a:ext cx="265176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91840" y="1207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 Midfielder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1840" y="160934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291840" y="182880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Creativity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91840" y="210312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Ball Progression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23774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Involvement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91840" y="270662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91840" y="292608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Assists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318211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xAG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0" y="3438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Key Passes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53328" y="1170432"/>
            <a:ext cx="2651760" cy="2377440"/>
          </a:xfrm>
          <a:prstGeom prst="rect">
            <a:avLst/>
          </a:prstGeom>
          <a:solidFill>
            <a:srgbClr val="142E52"/>
          </a:solidFill>
          <a:ln w="1270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053328" y="1170432"/>
            <a:ext cx="2651760" cy="34747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144768" y="1207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 Defender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44768" y="160934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144768" y="182880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Defensive Actions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44768" y="210312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Discipline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44768" y="23774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Blocks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44768" y="270662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144768" y="292608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Tackles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44768" y="318211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Interceptions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44768" y="3438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PrgP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7472" y="3657600"/>
            <a:ext cx="8430768" cy="274320"/>
          </a:xfrm>
          <a:prstGeom prst="rect">
            <a:avLst/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47472" y="3657600"/>
            <a:ext cx="8430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Models Trained (AutoML-Style)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47472" y="4023360"/>
            <a:ext cx="2011680" cy="384048"/>
          </a:xfrm>
          <a:prstGeom prst="rect">
            <a:avLst/>
          </a:prstGeom>
          <a:solidFill>
            <a:srgbClr val="142E52"/>
          </a:solidFill>
          <a:ln w="762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347472" y="4023360"/>
            <a:ext cx="54864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75488" y="40599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496312" y="4023360"/>
            <a:ext cx="2011680" cy="384048"/>
          </a:xfrm>
          <a:prstGeom prst="rect">
            <a:avLst/>
          </a:prstGeom>
          <a:solidFill>
            <a:srgbClr val="142E52"/>
          </a:solidFill>
          <a:ln w="762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2496312" y="4023360"/>
            <a:ext cx="54864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624328" y="40599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45152" y="4023360"/>
            <a:ext cx="2011680" cy="384048"/>
          </a:xfrm>
          <a:prstGeom prst="rect">
            <a:avLst/>
          </a:prstGeom>
          <a:solidFill>
            <a:srgbClr val="142E52"/>
          </a:solidFill>
          <a:ln w="762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645152" y="4023360"/>
            <a:ext cx="54864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773168" y="40599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Regression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793992" y="4023360"/>
            <a:ext cx="2011680" cy="384048"/>
          </a:xfrm>
          <a:prstGeom prst="rect">
            <a:avLst/>
          </a:prstGeom>
          <a:solidFill>
            <a:srgbClr val="142E52"/>
          </a:solidFill>
          <a:ln w="762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793992" y="4023360"/>
            <a:ext cx="54864" cy="3840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922008" y="40599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47472" y="4498848"/>
            <a:ext cx="2011680" cy="384048"/>
          </a:xfrm>
          <a:prstGeom prst="rect">
            <a:avLst/>
          </a:prstGeom>
          <a:solidFill>
            <a:srgbClr val="142E52"/>
          </a:solidFill>
          <a:ln w="762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347472" y="4498848"/>
            <a:ext cx="54864" cy="3840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75488" y="45354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496312" y="4498848"/>
            <a:ext cx="2011680" cy="384048"/>
          </a:xfrm>
          <a:prstGeom prst="rect">
            <a:avLst/>
          </a:prstGeom>
          <a:solidFill>
            <a:srgbClr val="142E52"/>
          </a:solidFill>
          <a:ln w="762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2496312" y="4498848"/>
            <a:ext cx="54864" cy="3840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2624328" y="45354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645152" y="4498848"/>
            <a:ext cx="2011680" cy="384048"/>
          </a:xfrm>
          <a:prstGeom prst="rect">
            <a:avLst/>
          </a:prstGeom>
          <a:solidFill>
            <a:srgbClr val="142E52"/>
          </a:solidFill>
          <a:ln w="762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4645152" y="4498848"/>
            <a:ext cx="54864" cy="3840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773168" y="45354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Reg.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793992" y="4498848"/>
            <a:ext cx="2011680" cy="384048"/>
          </a:xfrm>
          <a:prstGeom prst="rect">
            <a:avLst/>
          </a:prstGeom>
          <a:solidFill>
            <a:srgbClr val="142E52"/>
          </a:solidFill>
          <a:ln w="762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6793992" y="4498848"/>
            <a:ext cx="54864" cy="3840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922008" y="453542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(MLP)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5/5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Workflow — Model Selection Logic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105156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17320" y="1069848"/>
            <a:ext cx="7379208" cy="41148"/>
          </a:xfrm>
          <a:prstGeom prst="rect">
            <a:avLst/>
          </a:prstGeom>
          <a:solidFill>
            <a:srgbClr val="142E52"/>
          </a:solidFill>
          <a:ln w="12700">
            <a:solidFill>
              <a:srgbClr val="14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32520" y="48280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170432"/>
            <a:ext cx="8430768" cy="548640"/>
          </a:xfrm>
          <a:prstGeom prst="rect">
            <a:avLst/>
          </a:prstGeom>
          <a:solidFill>
            <a:srgbClr val="003D2E"/>
          </a:solidFill>
          <a:ln w="1270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4358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0976" y="1207008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manually selecting one model, all 8 models are trained on the same dataset and evaluated using the same validation metrics. The best-performing model is then selected automatically.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920240" y="2560320"/>
            <a:ext cx="128016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011680" y="2487168"/>
            <a:ext cx="91440" cy="21945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47472" y="1901952"/>
            <a:ext cx="1572768" cy="1444752"/>
          </a:xfrm>
          <a:prstGeom prst="rect">
            <a:avLst/>
          </a:prstGeom>
          <a:solidFill>
            <a:srgbClr val="142E52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969264" y="1975104"/>
            <a:ext cx="329184" cy="32918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969264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359152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2336" y="27432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84048" y="307238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trained 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 set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657600" y="2560320"/>
            <a:ext cx="128016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3749040" y="2487168"/>
            <a:ext cx="91440" cy="21945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2084832" y="1901952"/>
            <a:ext cx="1572768" cy="1444752"/>
          </a:xfrm>
          <a:prstGeom prst="rect">
            <a:avLst/>
          </a:prstGeom>
          <a:solidFill>
            <a:srgbClr val="142E52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2706624" y="1975104"/>
            <a:ext cx="329184" cy="32918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2706624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6624" y="2359152"/>
            <a:ext cx="329184" cy="32918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139696" y="27432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2121408" y="307238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R², RMSE, MAE computed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held-out data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5394960" y="2560320"/>
            <a:ext cx="128016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3"/>
          <p:cNvSpPr/>
          <p:nvPr/>
        </p:nvSpPr>
        <p:spPr>
          <a:xfrm>
            <a:off x="5486400" y="2487168"/>
            <a:ext cx="91440" cy="21945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4"/>
          <p:cNvSpPr/>
          <p:nvPr/>
        </p:nvSpPr>
        <p:spPr>
          <a:xfrm>
            <a:off x="3822192" y="1901952"/>
            <a:ext cx="1572768" cy="1444752"/>
          </a:xfrm>
          <a:prstGeom prst="rect">
            <a:avLst/>
          </a:prstGeom>
          <a:solidFill>
            <a:srgbClr val="142E52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5"/>
          <p:cNvSpPr/>
          <p:nvPr/>
        </p:nvSpPr>
        <p:spPr>
          <a:xfrm>
            <a:off x="4443984" y="1975104"/>
            <a:ext cx="329184" cy="32918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6"/>
          <p:cNvSpPr/>
          <p:nvPr/>
        </p:nvSpPr>
        <p:spPr>
          <a:xfrm>
            <a:off x="4443984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4" y="2359152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3877056" y="27432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3858768" y="307238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ranked by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metrics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7132320" y="2560320"/>
            <a:ext cx="128016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0"/>
          <p:cNvSpPr/>
          <p:nvPr/>
        </p:nvSpPr>
        <p:spPr>
          <a:xfrm>
            <a:off x="7223760" y="2487168"/>
            <a:ext cx="91440" cy="21945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1"/>
          <p:cNvSpPr/>
          <p:nvPr/>
        </p:nvSpPr>
        <p:spPr>
          <a:xfrm>
            <a:off x="5559552" y="1901952"/>
            <a:ext cx="1572768" cy="1444752"/>
          </a:xfrm>
          <a:prstGeom prst="rect">
            <a:avLst/>
          </a:prstGeom>
          <a:solidFill>
            <a:srgbClr val="142E52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2"/>
          <p:cNvSpPr/>
          <p:nvPr/>
        </p:nvSpPr>
        <p:spPr>
          <a:xfrm>
            <a:off x="6181344" y="1975104"/>
            <a:ext cx="329184" cy="32918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3"/>
          <p:cNvSpPr/>
          <p:nvPr/>
        </p:nvSpPr>
        <p:spPr>
          <a:xfrm>
            <a:off x="6181344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344" y="2359152"/>
            <a:ext cx="329184" cy="32918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614416" y="27432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5596128" y="307238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R² / lowest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model chosen</a:t>
            </a:r>
            <a:endParaRPr lang="en-US" sz="850" dirty="0"/>
          </a:p>
        </p:txBody>
      </p:sp>
      <p:sp>
        <p:nvSpPr>
          <p:cNvPr id="43" name="Shape 36"/>
          <p:cNvSpPr/>
          <p:nvPr/>
        </p:nvSpPr>
        <p:spPr>
          <a:xfrm>
            <a:off x="7296912" y="1901952"/>
            <a:ext cx="1572768" cy="1444752"/>
          </a:xfrm>
          <a:prstGeom prst="rect">
            <a:avLst/>
          </a:prstGeom>
          <a:solidFill>
            <a:srgbClr val="142E52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37"/>
          <p:cNvSpPr/>
          <p:nvPr/>
        </p:nvSpPr>
        <p:spPr>
          <a:xfrm>
            <a:off x="7918704" y="1975104"/>
            <a:ext cx="329184" cy="32918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38"/>
          <p:cNvSpPr/>
          <p:nvPr/>
        </p:nvSpPr>
        <p:spPr>
          <a:xfrm>
            <a:off x="7918704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8704" y="2359152"/>
            <a:ext cx="329184" cy="32918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7351776" y="27432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7333488" y="3072384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predicts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 (0–99)</a:t>
            </a:r>
            <a:endParaRPr lang="en-US" sz="850" dirty="0"/>
          </a:p>
        </p:txBody>
      </p:sp>
      <p:sp>
        <p:nvSpPr>
          <p:cNvPr id="49" name="Shape 41"/>
          <p:cNvSpPr/>
          <p:nvPr/>
        </p:nvSpPr>
        <p:spPr>
          <a:xfrm>
            <a:off x="347472" y="3456432"/>
            <a:ext cx="8430768" cy="256032"/>
          </a:xfrm>
          <a:prstGeom prst="rect">
            <a:avLst/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2"/>
          <p:cNvSpPr/>
          <p:nvPr/>
        </p:nvSpPr>
        <p:spPr>
          <a:xfrm>
            <a:off x="347472" y="3456432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347472" y="3749040"/>
            <a:ext cx="2651760" cy="1170432"/>
          </a:xfrm>
          <a:prstGeom prst="rect">
            <a:avLst/>
          </a:prstGeom>
          <a:solidFill>
            <a:srgbClr val="142E52"/>
          </a:solidFill>
          <a:ln w="762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44"/>
          <p:cNvSpPr/>
          <p:nvPr/>
        </p:nvSpPr>
        <p:spPr>
          <a:xfrm>
            <a:off x="347472" y="3749040"/>
            <a:ext cx="54864" cy="1170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45"/>
          <p:cNvSpPr/>
          <p:nvPr/>
        </p:nvSpPr>
        <p:spPr>
          <a:xfrm>
            <a:off x="493776" y="37856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2200" dirty="0"/>
          </a:p>
        </p:txBody>
      </p:sp>
      <p:sp>
        <p:nvSpPr>
          <p:cNvPr id="54" name="Text 46"/>
          <p:cNvSpPr/>
          <p:nvPr/>
        </p:nvSpPr>
        <p:spPr>
          <a:xfrm>
            <a:off x="493776" y="41330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</a:t>
            </a:r>
            <a:endParaRPr lang="en-US" sz="950" dirty="0"/>
          </a:p>
        </p:txBody>
      </p:sp>
      <p:sp>
        <p:nvSpPr>
          <p:cNvPr id="55" name="Text 47"/>
          <p:cNvSpPr/>
          <p:nvPr/>
        </p:nvSpPr>
        <p:spPr>
          <a:xfrm>
            <a:off x="493776" y="43891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variance the model explains (higher = better)</a:t>
            </a:r>
            <a:endParaRPr lang="en-US" sz="900" dirty="0"/>
          </a:p>
        </p:txBody>
      </p:sp>
      <p:sp>
        <p:nvSpPr>
          <p:cNvPr id="56" name="Shape 48"/>
          <p:cNvSpPr/>
          <p:nvPr/>
        </p:nvSpPr>
        <p:spPr>
          <a:xfrm>
            <a:off x="3163824" y="3749040"/>
            <a:ext cx="2651760" cy="1170432"/>
          </a:xfrm>
          <a:prstGeom prst="rect">
            <a:avLst/>
          </a:prstGeom>
          <a:solidFill>
            <a:srgbClr val="142E52"/>
          </a:solidFill>
          <a:ln w="762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49"/>
          <p:cNvSpPr/>
          <p:nvPr/>
        </p:nvSpPr>
        <p:spPr>
          <a:xfrm>
            <a:off x="3163824" y="3749040"/>
            <a:ext cx="54864" cy="1170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0"/>
          <p:cNvSpPr/>
          <p:nvPr/>
        </p:nvSpPr>
        <p:spPr>
          <a:xfrm>
            <a:off x="3310128" y="37856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200" dirty="0"/>
          </a:p>
        </p:txBody>
      </p:sp>
      <p:sp>
        <p:nvSpPr>
          <p:cNvPr id="59" name="Text 51"/>
          <p:cNvSpPr/>
          <p:nvPr/>
        </p:nvSpPr>
        <p:spPr>
          <a:xfrm>
            <a:off x="3310128" y="41330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950" dirty="0"/>
          </a:p>
        </p:txBody>
      </p:sp>
      <p:sp>
        <p:nvSpPr>
          <p:cNvPr id="60" name="Text 52"/>
          <p:cNvSpPr/>
          <p:nvPr/>
        </p:nvSpPr>
        <p:spPr>
          <a:xfrm>
            <a:off x="3310128" y="43891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large prediction errors more heavily</a:t>
            </a:r>
            <a:endParaRPr lang="en-US" sz="900" dirty="0"/>
          </a:p>
        </p:txBody>
      </p:sp>
      <p:sp>
        <p:nvSpPr>
          <p:cNvPr id="61" name="Shape 53"/>
          <p:cNvSpPr/>
          <p:nvPr/>
        </p:nvSpPr>
        <p:spPr>
          <a:xfrm>
            <a:off x="5980176" y="3749040"/>
            <a:ext cx="2651760" cy="1170432"/>
          </a:xfrm>
          <a:prstGeom prst="rect">
            <a:avLst/>
          </a:prstGeom>
          <a:solidFill>
            <a:srgbClr val="142E52"/>
          </a:solidFill>
          <a:ln w="762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Shape 54"/>
          <p:cNvSpPr/>
          <p:nvPr/>
        </p:nvSpPr>
        <p:spPr>
          <a:xfrm>
            <a:off x="5980176" y="3749040"/>
            <a:ext cx="54864" cy="11704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55"/>
          <p:cNvSpPr/>
          <p:nvPr/>
        </p:nvSpPr>
        <p:spPr>
          <a:xfrm>
            <a:off x="6126480" y="37856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200" dirty="0"/>
          </a:p>
        </p:txBody>
      </p:sp>
      <p:sp>
        <p:nvSpPr>
          <p:cNvPr id="64" name="Text 56"/>
          <p:cNvSpPr/>
          <p:nvPr/>
        </p:nvSpPr>
        <p:spPr>
          <a:xfrm>
            <a:off x="6126480" y="41330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950" dirty="0"/>
          </a:p>
        </p:txBody>
      </p:sp>
      <p:sp>
        <p:nvSpPr>
          <p:cNvPr id="65" name="Text 57"/>
          <p:cNvSpPr/>
          <p:nvPr/>
        </p:nvSpPr>
        <p:spPr>
          <a:xfrm>
            <a:off x="6126480" y="43891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gap between predicted &amp; actual values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Modules — Working System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105156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17320" y="1069848"/>
            <a:ext cx="7379208" cy="41148"/>
          </a:xfrm>
          <a:prstGeom prst="rect">
            <a:avLst/>
          </a:prstGeom>
          <a:solidFill>
            <a:srgbClr val="142E52"/>
          </a:solidFill>
          <a:ln w="12700">
            <a:solidFill>
              <a:srgbClr val="14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32520" y="48280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170432"/>
            <a:ext cx="1920240" cy="658368"/>
          </a:xfrm>
          <a:prstGeom prst="rect">
            <a:avLst/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21615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6384" y="1188720"/>
            <a:ext cx="1426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267712" y="1463040"/>
            <a:ext cx="201168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432304" y="1408176"/>
            <a:ext cx="64008" cy="182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523744" y="1170432"/>
            <a:ext cx="1920240" cy="658368"/>
          </a:xfrm>
          <a:prstGeom prst="rect">
            <a:avLst/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121615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62656" y="1188720"/>
            <a:ext cx="1426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443984" y="1463040"/>
            <a:ext cx="201168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4608576" y="1408176"/>
            <a:ext cx="64008" cy="182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4700016" y="1170432"/>
            <a:ext cx="1920240" cy="658368"/>
          </a:xfrm>
          <a:prstGeom prst="rect">
            <a:avLst/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121615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38928" y="1188720"/>
            <a:ext cx="1426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0–99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620256" y="1463040"/>
            <a:ext cx="201168" cy="640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6784848" y="1408176"/>
            <a:ext cx="64008" cy="182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6876288" y="1170432"/>
            <a:ext cx="1920240" cy="658368"/>
          </a:xfrm>
          <a:prstGeom prst="rect">
            <a:avLst/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28" y="121615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0" y="1188720"/>
            <a:ext cx="1426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47472" y="1719072"/>
            <a:ext cx="2670048" cy="256032"/>
          </a:xfrm>
          <a:prstGeom prst="rect">
            <a:avLst/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347472" y="1719072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Search Interface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47472" y="1993392"/>
            <a:ext cx="2670048" cy="17922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65760" y="2011680"/>
            <a:ext cx="2633472" cy="17556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47472" y="3840480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search — ranked by AI Score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3200400" y="1719072"/>
            <a:ext cx="2670048" cy="256032"/>
          </a:xfrm>
          <a:prstGeom prst="rect">
            <a:avLst/>
          </a:prstGeom>
          <a:solidFill>
            <a:srgbClr val="003D2E"/>
          </a:solidFill>
          <a:ln w="10160">
            <a:solidFill>
              <a:srgbClr val="00A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5"/>
          <p:cNvSpPr/>
          <p:nvPr/>
        </p:nvSpPr>
        <p:spPr>
          <a:xfrm>
            <a:off x="3200400" y="1719072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Builder Interface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3200400" y="1993392"/>
            <a:ext cx="2670048" cy="17922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A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218688" y="2011680"/>
            <a:ext cx="2633472" cy="175564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200400" y="3840480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squad assembly with real AI Scores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6053328" y="1719072"/>
            <a:ext cx="2670048" cy="256032"/>
          </a:xfrm>
          <a:prstGeom prst="rect">
            <a:avLst/>
          </a:prstGeom>
          <a:solidFill>
            <a:srgbClr val="003D2E"/>
          </a:solidFill>
          <a:ln w="1016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29"/>
          <p:cNvSpPr/>
          <p:nvPr/>
        </p:nvSpPr>
        <p:spPr>
          <a:xfrm>
            <a:off x="6053328" y="1719072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Analysis Dashboard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6053328" y="1993392"/>
            <a:ext cx="2670048" cy="1792224"/>
          </a:xfrm>
          <a:prstGeom prst="rect">
            <a:avLst/>
          </a:prstGeom>
          <a:solidFill>
            <a:srgbClr val="00000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071616" y="2011680"/>
            <a:ext cx="2633472" cy="175564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053328" y="3840480"/>
            <a:ext cx="267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/ Creativity / Defense metrics computed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105156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17320" y="1069848"/>
            <a:ext cx="7379208" cy="41148"/>
          </a:xfrm>
          <a:prstGeom prst="rect">
            <a:avLst/>
          </a:prstGeom>
          <a:solidFill>
            <a:srgbClr val="142E52"/>
          </a:solidFill>
          <a:ln w="12700">
            <a:solidFill>
              <a:srgbClr val="14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32520" y="48280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1170432"/>
          <a:ext cx="502920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486400" y="1225296"/>
            <a:ext cx="3291840" cy="749808"/>
          </a:xfrm>
          <a:prstGeom prst="rect">
            <a:avLst/>
          </a:prstGeom>
          <a:solidFill>
            <a:srgbClr val="142E52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486400" y="1225296"/>
            <a:ext cx="54864" cy="7498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14264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61888" y="1280160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961888" y="1572768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Gradient Boosting showed the most stable R², RMSE, and MAE.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486400" y="2121408"/>
            <a:ext cx="3291840" cy="749808"/>
          </a:xfrm>
          <a:prstGeom prst="rect">
            <a:avLst/>
          </a:prstGeom>
          <a:solidFill>
            <a:srgbClr val="142E52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5486400" y="2121408"/>
            <a:ext cx="54864" cy="7498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232257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61888" y="2176272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Result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961888" y="2468880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selected automatically — no manual tuning required.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0" y="3017520"/>
            <a:ext cx="3291840" cy="749808"/>
          </a:xfrm>
          <a:prstGeom prst="rect">
            <a:avLst/>
          </a:prstGeom>
          <a:solidFill>
            <a:srgbClr val="142E52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5486400" y="3017520"/>
            <a:ext cx="54864" cy="7498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6128" y="321868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61888" y="3072384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 (0–99)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961888" y="336499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objective player ranking generated for 3000+ players.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0" y="3913632"/>
            <a:ext cx="3291840" cy="749808"/>
          </a:xfrm>
          <a:prstGeom prst="rect">
            <a:avLst/>
          </a:prstGeom>
          <a:solidFill>
            <a:srgbClr val="142E52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5486400" y="3913632"/>
            <a:ext cx="54864" cy="7498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6128" y="411480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961888" y="3968496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Analysis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961888" y="4261104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Attack, Creativity, Defense, Discipline scores computed per squad.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320040" y="47731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R² values are illustrative. Actual results depend on the final trained dataset.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105156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17320" y="1069848"/>
            <a:ext cx="7379208" cy="41148"/>
          </a:xfrm>
          <a:prstGeom prst="rect">
            <a:avLst/>
          </a:prstGeom>
          <a:solidFill>
            <a:srgbClr val="142E52"/>
          </a:solidFill>
          <a:ln w="12700">
            <a:solidFill>
              <a:srgbClr val="14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32520" y="48280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170432"/>
            <a:ext cx="8430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of the project and planned academic outcomes for next semester: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00200"/>
            <a:ext cx="8430768" cy="749808"/>
          </a:xfrm>
          <a:prstGeom prst="rect">
            <a:avLst/>
          </a:prstGeom>
          <a:solidFill>
            <a:srgbClr val="142E52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47472" y="1600200"/>
            <a:ext cx="54864" cy="7498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801368"/>
            <a:ext cx="274320" cy="2743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72400" y="1673352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772400" y="16733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914400" y="165506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AI-Based System Developed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14400" y="1947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local application built with Streamlit. Demonstrates the full pipeline from data loading to AI Score generation.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7472" y="2478024"/>
            <a:ext cx="8430768" cy="749808"/>
          </a:xfrm>
          <a:prstGeom prst="rect">
            <a:avLst/>
          </a:prstGeom>
          <a:solidFill>
            <a:srgbClr val="142E52"/>
          </a:solidFill>
          <a:ln w="1016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347472" y="2478024"/>
            <a:ext cx="54864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2679192"/>
            <a:ext cx="274320" cy="27432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772400" y="2551176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003D2E"/>
          </a:solidFill>
          <a:ln w="1016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7772400" y="25511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914400" y="253288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Comparison Implemented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914400" y="2825496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models (Linear through Neural Network) trained and evaluated using R², RMSE, and MAE. AutoML selection is operational.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47472" y="3355848"/>
            <a:ext cx="8430768" cy="749808"/>
          </a:xfrm>
          <a:prstGeom prst="rect">
            <a:avLst/>
          </a:prstGeom>
          <a:solidFill>
            <a:srgbClr val="142E52"/>
          </a:solidFill>
          <a:ln w="10160">
            <a:solidFill>
              <a:srgbClr val="00A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347472" y="3355848"/>
            <a:ext cx="54864" cy="749808"/>
          </a:xfrm>
          <a:prstGeom prst="rect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3557016"/>
            <a:ext cx="274320" cy="27432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7772400" y="3429000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003D2E"/>
          </a:solidFill>
          <a:ln w="10160">
            <a:solidFill>
              <a:srgbClr val="00A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/>
          <p:nvPr/>
        </p:nvSpPr>
        <p:spPr>
          <a:xfrm>
            <a:off x="7772400" y="34290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914400" y="341071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 Prediction Working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914400" y="370332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 (0–99) successfully generated for 3000+ players. Search, comparison, squad building, and analysis modules are functional.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347472" y="4233672"/>
            <a:ext cx="8430768" cy="749808"/>
          </a:xfrm>
          <a:prstGeom prst="rect">
            <a:avLst/>
          </a:prstGeom>
          <a:solidFill>
            <a:srgbClr val="142E52"/>
          </a:solidFill>
          <a:ln w="1016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347472" y="4233672"/>
            <a:ext cx="54864" cy="7498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4434840"/>
            <a:ext cx="274320" cy="27432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7772400" y="4306824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/>
          <p:nvPr/>
        </p:nvSpPr>
        <p:spPr>
          <a:xfrm>
            <a:off x="7772400" y="430682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914400" y="428853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— Drafted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914400" y="458114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on AutoML-style model comparison for FBref-based player rating being prepared for student conference submission.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64592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003D2E"/>
          </a:solidFill>
          <a:ln w="1016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47472" y="1645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47472" y="5303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47472" y="1069848"/>
            <a:ext cx="1051560" cy="4114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17320" y="1069848"/>
            <a:ext cx="7379208" cy="41148"/>
          </a:xfrm>
          <a:prstGeom prst="rect">
            <a:avLst/>
          </a:prstGeom>
          <a:solidFill>
            <a:srgbClr val="142E52"/>
          </a:solidFill>
          <a:ln w="12700">
            <a:solidFill>
              <a:srgbClr val="142E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32520" y="48280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170432"/>
            <a:ext cx="8430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feature selection is performed manually. The following improvements are planned for the next development phase: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64208"/>
            <a:ext cx="8430768" cy="694944"/>
          </a:xfrm>
          <a:prstGeom prst="rect">
            <a:avLst/>
          </a:prstGeom>
          <a:solidFill>
            <a:srgbClr val="142E52"/>
          </a:solidFill>
          <a:ln w="889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47472" y="1664208"/>
            <a:ext cx="54864" cy="69494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837944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171907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Feature Selection Using ML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14400" y="2011680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feature design with data-driven selection using feature importance scores (e.g., from Random Forest) and SHAP values.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7472" y="2487168"/>
            <a:ext cx="8430768" cy="694944"/>
          </a:xfrm>
          <a:prstGeom prst="rect">
            <a:avLst/>
          </a:prstGeom>
          <a:solidFill>
            <a:srgbClr val="142E52"/>
          </a:solidFill>
          <a:ln w="889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47472" y="2487168"/>
            <a:ext cx="54864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2660904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4400" y="254203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Feature Importance Analysis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914400" y="2834640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which engineered features contribute most to AI Score prediction and remove low-importance or highly correlated redundant features.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47472" y="3310128"/>
            <a:ext cx="8430768" cy="694944"/>
          </a:xfrm>
          <a:prstGeom prst="rect">
            <a:avLst/>
          </a:prstGeom>
          <a:solidFill>
            <a:srgbClr val="142E52"/>
          </a:solidFill>
          <a:ln w="8890">
            <a:solidFill>
              <a:srgbClr val="00A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347472" y="3310128"/>
            <a:ext cx="54864" cy="694944"/>
          </a:xfrm>
          <a:prstGeom prst="rect">
            <a:avLst/>
          </a:prstGeom>
          <a:solidFill>
            <a:srgbClr val="00A8FF"/>
          </a:solidFill>
          <a:ln w="12700">
            <a:solidFill>
              <a:srgbClr val="00A8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3483864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14400" y="336499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Prediction Accuracy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914400" y="3657600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additional data sources (match-level stats, opposition quality) and explore ensemble stacking to improve model R² further.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347472" y="4133088"/>
            <a:ext cx="8430768" cy="694944"/>
          </a:xfrm>
          <a:prstGeom prst="rect">
            <a:avLst/>
          </a:prstGeom>
          <a:solidFill>
            <a:srgbClr val="142E52"/>
          </a:solidFill>
          <a:ln w="889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47472" y="4133088"/>
            <a:ext cx="54864" cy="69494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4306824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4400" y="4187952"/>
            <a:ext cx="7726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Integration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914400" y="4480560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 public football data API to keep player statistics current and allow live AI Score updates across all modules.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514" y="619805"/>
            <a:ext cx="2190155" cy="543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32"/>
              </a:lnSpc>
            </a:pPr>
            <a:r>
              <a:rPr lang="en-US" sz="3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74514" y="568747"/>
            <a:ext cx="8594973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969"/>
              </a:lnSpc>
            </a:pPr>
            <a:endParaRPr lang="en-US" sz="594" dirty="0"/>
          </a:p>
        </p:txBody>
      </p:sp>
      <p:sp>
        <p:nvSpPr>
          <p:cNvPr id="4" name="Text 2"/>
          <p:cNvSpPr/>
          <p:nvPr/>
        </p:nvSpPr>
        <p:spPr>
          <a:xfrm>
            <a:off x="274514" y="1364679"/>
            <a:ext cx="1176784" cy="16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7"/>
              </a:lnSpc>
            </a:pPr>
            <a:r>
              <a:rPr lang="en-US" sz="1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Research Papers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74514" y="1728338"/>
            <a:ext cx="4201790" cy="244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969"/>
              </a:lnSpc>
              <a:buSzPct val="100000"/>
              <a:buChar char="•"/>
            </a:pPr>
            <a:r>
              <a:rPr lang="en-US" sz="1125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Predicting Football Player Performance Using ML (2023)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274514" y="2042067"/>
            <a:ext cx="4201790" cy="200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969"/>
              </a:lnSpc>
              <a:buSzPct val="100000"/>
              <a:buChar char="•"/>
            </a:pPr>
            <a:r>
              <a:rPr lang="en-US" sz="1125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Market Value Prediction of Football Players Using ML (2023)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74514" y="2367886"/>
            <a:ext cx="4201790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969"/>
              </a:lnSpc>
              <a:buSzPct val="100000"/>
              <a:buChar char="•"/>
            </a:pPr>
            <a:r>
              <a:rPr lang="en-US" sz="1125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Machine Learning in Soccer — Systematic Review (2022)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274514" y="2650153"/>
            <a:ext cx="4201790" cy="305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969"/>
              </a:lnSpc>
              <a:buSzPct val="100000"/>
              <a:buChar char="•"/>
            </a:pPr>
            <a:r>
              <a:rPr lang="en-US" sz="1125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Prediction of Football Player Value Using Bayesian Ensemble Model (2022)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74514" y="2955847"/>
            <a:ext cx="4201790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969"/>
              </a:lnSpc>
              <a:buSzPct val="100000"/>
              <a:buChar char="•"/>
            </a:pPr>
            <a:r>
              <a:rPr lang="en-US" sz="1125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Machine Learning Modeling to Evaluate Football Player Value (2022)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274514" y="3234155"/>
            <a:ext cx="4201790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969"/>
              </a:lnSpc>
              <a:buSzPct val="100000"/>
              <a:buChar char="•"/>
            </a:pPr>
            <a:r>
              <a:rPr lang="en-US" sz="1125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PlayeRank: Data-Driven Player Ranking in Soccer (2018)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274514" y="3561411"/>
            <a:ext cx="4201790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969"/>
              </a:lnSpc>
              <a:buSzPct val="100000"/>
              <a:buChar char="•"/>
            </a:pPr>
            <a:r>
              <a:rPr lang="en-US" sz="1125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Machine Learning Applied to Professional Football (2023)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274514" y="3888665"/>
            <a:ext cx="4201790" cy="24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969"/>
              </a:lnSpc>
              <a:buSzPct val="100000"/>
              <a:buChar char="•"/>
            </a:pPr>
            <a:r>
              <a:rPr lang="en-US" sz="1125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Soccer Player Performance Prediction Using Neural Networks (2020)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274514" y="4282604"/>
            <a:ext cx="4201790" cy="241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969"/>
              </a:lnSpc>
              <a:buSzPct val="100000"/>
              <a:buChar char="•"/>
            </a:pPr>
            <a:r>
              <a:rPr lang="en-US" sz="1125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Forecasting Player Development and Value (2025 preprint)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274514" y="4676543"/>
            <a:ext cx="4201790" cy="40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969"/>
              </a:lnSpc>
              <a:buSzPct val="100000"/>
              <a:buChar char="•"/>
            </a:pPr>
            <a:r>
              <a:rPr lang="en-US" sz="1125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Soccer Match Outcome Prediction Using ML (2021)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672459" y="860897"/>
            <a:ext cx="1342951" cy="147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7"/>
              </a:lnSpc>
            </a:pPr>
            <a:r>
              <a:rPr lang="en-US" sz="906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Real-World Applications</a:t>
            </a:r>
            <a:endParaRPr lang="en-US" sz="906" dirty="0"/>
          </a:p>
        </p:txBody>
      </p:sp>
      <p:sp>
        <p:nvSpPr>
          <p:cNvPr id="16" name="Text 14"/>
          <p:cNvSpPr/>
          <p:nvPr/>
        </p:nvSpPr>
        <p:spPr>
          <a:xfrm>
            <a:off x="4672459" y="1086371"/>
            <a:ext cx="4201790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969"/>
              </a:lnSpc>
              <a:buSzPct val="100000"/>
              <a:buChar char="•"/>
            </a:pPr>
            <a:r>
              <a:rPr lang="en-US" sz="875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Opta Sports (StatsPerform</a:t>
            </a:r>
            <a:r>
              <a:rPr lang="en-US" sz="594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lang="en-US" sz="594" dirty="0"/>
          </a:p>
        </p:txBody>
      </p:sp>
      <p:sp>
        <p:nvSpPr>
          <p:cNvPr id="17" name="Text 15"/>
          <p:cNvSpPr/>
          <p:nvPr/>
        </p:nvSpPr>
        <p:spPr>
          <a:xfrm>
            <a:off x="4672459" y="1239218"/>
            <a:ext cx="4201790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969"/>
              </a:lnSpc>
              <a:buSzPct val="100000"/>
              <a:buChar char="•"/>
            </a:pPr>
            <a:r>
              <a:rPr lang="en-US" sz="875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Transfermarkt Player Valuation Method</a:t>
            </a:r>
            <a:endParaRPr lang="en-US" sz="875" dirty="0"/>
          </a:p>
        </p:txBody>
      </p:sp>
      <p:sp>
        <p:nvSpPr>
          <p:cNvPr id="18" name="Text 16"/>
          <p:cNvSpPr/>
          <p:nvPr/>
        </p:nvSpPr>
        <p:spPr>
          <a:xfrm>
            <a:off x="4672459" y="1392064"/>
            <a:ext cx="4201790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969"/>
              </a:lnSpc>
              <a:buSzPct val="100000"/>
              <a:buChar char="•"/>
            </a:pPr>
            <a:r>
              <a:rPr lang="en-US" sz="875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SciSports (AI Scouting &amp; Player Tracking)</a:t>
            </a:r>
            <a:endParaRPr lang="en-US" sz="875" dirty="0"/>
          </a:p>
        </p:txBody>
      </p:sp>
      <p:sp>
        <p:nvSpPr>
          <p:cNvPr id="19" name="Text 17"/>
          <p:cNvSpPr/>
          <p:nvPr/>
        </p:nvSpPr>
        <p:spPr>
          <a:xfrm>
            <a:off x="4672459" y="1544911"/>
            <a:ext cx="4201790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969"/>
              </a:lnSpc>
              <a:buSzPct val="100000"/>
              <a:buChar char="•"/>
            </a:pPr>
            <a:r>
              <a:rPr lang="en-US" sz="875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Manchester City — City Fan Labs (AI Projects</a:t>
            </a:r>
            <a:r>
              <a:rPr lang="en-US" sz="594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lang="en-US" sz="594" dirty="0"/>
          </a:p>
        </p:txBody>
      </p:sp>
      <p:sp>
        <p:nvSpPr>
          <p:cNvPr id="20" name="Text 18"/>
          <p:cNvSpPr/>
          <p:nvPr/>
        </p:nvSpPr>
        <p:spPr>
          <a:xfrm>
            <a:off x="4672459" y="1697758"/>
            <a:ext cx="4201790" cy="125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14304" indent="-214304">
              <a:lnSpc>
                <a:spcPts val="969"/>
              </a:lnSpc>
              <a:buSzPct val="100000"/>
              <a:buChar char="•"/>
            </a:pPr>
            <a:r>
              <a:rPr lang="en-US" sz="875" u="sng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FC Barcelona — Barça Innovation Hub (AI in Sports)</a:t>
            </a:r>
            <a:endParaRPr lang="en-US" sz="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2007</Words>
  <Application>Microsoft Office PowerPoint</Application>
  <PresentationFormat>On-screen Show (16:9)</PresentationFormat>
  <Paragraphs>419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Courier New</vt:lpstr>
      <vt:lpstr>DM Sans Medium</vt:lpstr>
      <vt:lpstr>Inter</vt:lpstr>
      <vt:lpstr>MuseoModerno Medium</vt:lpstr>
      <vt:lpstr>Office Theme</vt:lpstr>
      <vt:lpstr>Football Manager AI Assistant Data-Driven Player Scouting &amp; Tactical    Recommendation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Football Manager AI Assistant</dc:title>
  <dc:subject>PptxGenJS Presentation</dc:subject>
  <dc:creator>PptxGenJS</dc:creator>
  <cp:lastModifiedBy>Tanmay Singh</cp:lastModifiedBy>
  <cp:revision>3</cp:revision>
  <dcterms:created xsi:type="dcterms:W3CDTF">2026-04-10T11:46:35Z</dcterms:created>
  <dcterms:modified xsi:type="dcterms:W3CDTF">2026-04-10T12:56:11Z</dcterms:modified>
</cp:coreProperties>
</file>